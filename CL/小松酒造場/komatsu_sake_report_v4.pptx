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706"/>
  </p:normalViewPr>
  <p:slideViewPr>
    <p:cSldViewPr snapToGrid="0" snapToObjects="1">
      <p:cViewPr varScale="1">
        <p:scale>
          <a:sx n="157" d="100"/>
          <a:sy n="157" d="100"/>
        </p:scale>
        <p:origin x="1464" y="4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33851"/>
            <a:ext cx="6400800" cy="457200"/>
          </a:xfrm>
          <a:prstGeom prst="rect">
            <a:avLst/>
          </a:prstGeom>
          <a:noFill/>
        </p:spPr>
        <p:txBody>
          <a:bodyPr wrap="square">
            <a:spAutoFit/>
          </a:bodyPr>
          <a:lstStyle/>
          <a:p>
            <a:pPr algn="l"/>
            <a:r>
              <a:rPr sz="1300" b="0">
                <a:solidFill>
                  <a:srgbClr val="2A221E"/>
                </a:solidFill>
                <a:latin typeface="Hiragino Kaku Gothic ProN"/>
              </a:rPr>
              <a:t>小松酒造場 御中</a:t>
            </a:r>
          </a:p>
        </p:txBody>
      </p:sp>
      <p:sp>
        <p:nvSpPr>
          <p:cNvPr id="4" name="TextBox 3"/>
          <p:cNvSpPr txBox="1"/>
          <p:nvPr/>
        </p:nvSpPr>
        <p:spPr>
          <a:xfrm>
            <a:off x="731520" y="2899611"/>
            <a:ext cx="8229600" cy="1005840"/>
          </a:xfrm>
          <a:prstGeom prst="rect">
            <a:avLst/>
          </a:prstGeom>
          <a:noFill/>
        </p:spPr>
        <p:txBody>
          <a:bodyPr wrap="square">
            <a:spAutoFit/>
          </a:bodyPr>
          <a:lstStyle/>
          <a:p>
            <a:pPr algn="l"/>
            <a:r>
              <a:rPr sz="4400" b="1">
                <a:solidFill>
                  <a:srgbClr val="2A221E"/>
                </a:solidFill>
                <a:latin typeface="Hiragino Kaku Gothic ProN"/>
              </a:rPr>
              <a:t>アンケート分析レポート</a:t>
            </a:r>
          </a:p>
        </p:txBody>
      </p:sp>
      <p:sp>
        <p:nvSpPr>
          <p:cNvPr id="5" name="Rectangle 4"/>
          <p:cNvSpPr/>
          <p:nvPr/>
        </p:nvSpPr>
        <p:spPr>
          <a:xfrm>
            <a:off x="731520" y="3859731"/>
            <a:ext cx="1188720" cy="3048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878019"/>
            <a:ext cx="1097280" cy="230832"/>
          </a:xfrm>
          <a:prstGeom prst="rect">
            <a:avLst/>
          </a:prstGeom>
          <a:noFill/>
        </p:spPr>
        <p:txBody>
          <a:bodyPr wrap="square">
            <a:spAutoFit/>
          </a:bodyPr>
          <a:lstStyle/>
          <a:p>
            <a:pPr algn="l"/>
            <a:r>
              <a:rPr sz="900" b="1">
                <a:solidFill>
                  <a:srgbClr val="FFFFFF"/>
                </a:solidFill>
                <a:latin typeface="Helvetica Neue"/>
              </a:rPr>
              <a:t>2026.03.</a:t>
            </a:r>
            <a:r>
              <a:rPr lang="en-US" altLang="ja-JP" sz="900" b="1">
                <a:solidFill>
                  <a:srgbClr val="FFFFFF"/>
                </a:solidFill>
                <a:latin typeface="Helvetica Neue"/>
              </a:rPr>
              <a:t>10</a:t>
            </a:r>
            <a:endParaRPr sz="900" b="1" dirty="0">
              <a:solidFill>
                <a:srgbClr val="FFFFFF"/>
              </a:solidFill>
              <a:latin typeface="Helvetica Neue"/>
            </a:endParaRPr>
          </a:p>
        </p:txBody>
      </p:sp>
      <p:sp>
        <p:nvSpPr>
          <p:cNvPr id="7" name="TextBox 6"/>
          <p:cNvSpPr txBox="1"/>
          <p:nvPr/>
        </p:nvSpPr>
        <p:spPr>
          <a:xfrm>
            <a:off x="731520" y="6080760"/>
            <a:ext cx="1828800" cy="320040"/>
          </a:xfrm>
          <a:prstGeom prst="rect">
            <a:avLst/>
          </a:prstGeom>
          <a:noFill/>
        </p:spPr>
        <p:txBody>
          <a:bodyPr wrap="square">
            <a:spAutoFit/>
          </a:bodyPr>
          <a:lstStyle/>
          <a:p>
            <a:pPr algn="l"/>
            <a:r>
              <a:rPr sz="1300" b="1">
                <a:solidFill>
                  <a:srgbClr val="2A221E"/>
                </a:solidFill>
                <a:latin typeface="Helvetica Neue"/>
              </a:rPr>
              <a:t>CRATER</a:t>
            </a:r>
          </a:p>
        </p:txBody>
      </p:sp>
      <p:sp>
        <p:nvSpPr>
          <p:cNvPr id="8" name="TextBox 7"/>
          <p:cNvSpPr txBox="1"/>
          <p:nvPr/>
        </p:nvSpPr>
        <p:spPr>
          <a:xfrm>
            <a:off x="731520" y="6355080"/>
            <a:ext cx="2286000" cy="274320"/>
          </a:xfrm>
          <a:prstGeom prst="rect">
            <a:avLst/>
          </a:prstGeom>
          <a:noFill/>
        </p:spPr>
        <p:txBody>
          <a:bodyPr wrap="square">
            <a:spAutoFit/>
          </a:bodyPr>
          <a:lstStyle/>
          <a:p>
            <a:pPr algn="l"/>
            <a:r>
              <a:rPr sz="900" b="0">
                <a:solidFill>
                  <a:srgbClr val="99928D"/>
                </a:solidFill>
                <a:latin typeface="Helvetica Neue"/>
              </a:rPr>
              <a:t>©CRATER Inc.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201168"/>
            <a:ext cx="11786616" cy="64556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01168"/>
            <a:ext cx="11786616" cy="6455664"/>
          </a:xfrm>
          <a:prstGeom prst="rect">
            <a:avLst/>
          </a:prstGeom>
          <a:noFill/>
          <a:ln w="9525">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7472" y="274320"/>
            <a:ext cx="635000" cy="2794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9072" y="312420"/>
            <a:ext cx="635000" cy="279400"/>
          </a:xfrm>
          <a:prstGeom prst="rect">
            <a:avLst/>
          </a:prstGeom>
          <a:noFill/>
        </p:spPr>
        <p:txBody>
          <a:bodyPr wrap="square">
            <a:spAutoFit/>
          </a:bodyPr>
          <a:lstStyle/>
          <a:p>
            <a:pPr algn="l"/>
            <a:r>
              <a:rPr sz="850" b="1">
                <a:solidFill>
                  <a:srgbClr val="FFFFFF"/>
                </a:solidFill>
                <a:latin typeface="Helvetica Neue"/>
              </a:rPr>
              <a:t>定量分析</a:t>
            </a:r>
          </a:p>
        </p:txBody>
      </p:sp>
      <p:sp>
        <p:nvSpPr>
          <p:cNvPr id="7" name="TextBox 6"/>
          <p:cNvSpPr txBox="1"/>
          <p:nvPr/>
        </p:nvSpPr>
        <p:spPr>
          <a:xfrm>
            <a:off x="640080" y="777240"/>
            <a:ext cx="8229600" cy="713232"/>
          </a:xfrm>
          <a:prstGeom prst="rect">
            <a:avLst/>
          </a:prstGeom>
          <a:noFill/>
        </p:spPr>
        <p:txBody>
          <a:bodyPr wrap="square">
            <a:spAutoFit/>
          </a:bodyPr>
          <a:lstStyle/>
          <a:p>
            <a:pPr algn="l"/>
            <a:r>
              <a:rPr sz="2800" b="1">
                <a:solidFill>
                  <a:srgbClr val="2A221E"/>
                </a:solidFill>
                <a:latin typeface="Hiragino Kaku Gothic ProN"/>
              </a:rPr>
              <a:t>総合支持率ランキング</a:t>
            </a:r>
          </a:p>
        </p:txBody>
      </p:sp>
      <p:sp>
        <p:nvSpPr>
          <p:cNvPr id="8" name="TextBox 7"/>
          <p:cNvSpPr txBox="1"/>
          <p:nvPr/>
        </p:nvSpPr>
        <p:spPr>
          <a:xfrm>
            <a:off x="640080" y="1417320"/>
            <a:ext cx="9144000" cy="347472"/>
          </a:xfrm>
          <a:prstGeom prst="rect">
            <a:avLst/>
          </a:prstGeom>
          <a:noFill/>
        </p:spPr>
        <p:txBody>
          <a:bodyPr wrap="square">
            <a:spAutoFit/>
          </a:bodyPr>
          <a:lstStyle/>
          <a:p>
            <a:pPr algn="l"/>
            <a:r>
              <a:rPr sz="1100" b="0">
                <a:solidFill>
                  <a:srgbClr val="554A45"/>
                </a:solidFill>
                <a:latin typeface="Hiragino Kaku Gothic ProN"/>
              </a:rPr>
              <a:t>1位票＋2位票の合算。500人中、何人がこの切り口を選んだか。</a:t>
            </a:r>
          </a:p>
        </p:txBody>
      </p:sp>
      <p:sp>
        <p:nvSpPr>
          <p:cNvPr id="9" name="Rectangle 8"/>
          <p:cNvSpPr/>
          <p:nvPr/>
        </p:nvSpPr>
        <p:spPr>
          <a:xfrm>
            <a:off x="640080" y="1737360"/>
            <a:ext cx="10881360" cy="101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874519"/>
            <a:ext cx="11247120" cy="779272"/>
          </a:xfrm>
          <a:prstGeom prst="rect">
            <a:avLst/>
          </a:prstGeom>
          <a:solidFill>
            <a:srgbClr val="F8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874519"/>
            <a:ext cx="38100" cy="779272"/>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001519"/>
            <a:ext cx="384048" cy="502920"/>
          </a:xfrm>
          <a:prstGeom prst="rect">
            <a:avLst/>
          </a:prstGeom>
          <a:noFill/>
        </p:spPr>
        <p:txBody>
          <a:bodyPr wrap="square">
            <a:spAutoFit/>
          </a:bodyPr>
          <a:lstStyle/>
          <a:p>
            <a:pPr algn="l"/>
            <a:r>
              <a:rPr sz="1000" b="1">
                <a:solidFill>
                  <a:srgbClr val="B89640"/>
                </a:solidFill>
                <a:latin typeface="Helvetica Neue"/>
              </a:rPr>
              <a:t>01</a:t>
            </a:r>
          </a:p>
        </p:txBody>
      </p:sp>
      <p:sp>
        <p:nvSpPr>
          <p:cNvPr id="13" name="TextBox 12"/>
          <p:cNvSpPr txBox="1"/>
          <p:nvPr/>
        </p:nvSpPr>
        <p:spPr>
          <a:xfrm>
            <a:off x="1143000" y="1976119"/>
            <a:ext cx="1554480" cy="502920"/>
          </a:xfrm>
          <a:prstGeom prst="rect">
            <a:avLst/>
          </a:prstGeom>
          <a:noFill/>
        </p:spPr>
        <p:txBody>
          <a:bodyPr wrap="square">
            <a:spAutoFit/>
          </a:bodyPr>
          <a:lstStyle/>
          <a:p>
            <a:pPr algn="l"/>
            <a:r>
              <a:rPr sz="1500" b="1">
                <a:solidFill>
                  <a:srgbClr val="2A221E"/>
                </a:solidFill>
                <a:latin typeface="Hiragino Kaku Gothic ProN"/>
              </a:rPr>
              <a:t>幻の米</a:t>
            </a:r>
          </a:p>
        </p:txBody>
      </p:sp>
      <p:sp>
        <p:nvSpPr>
          <p:cNvPr id="14" name="Rectangle 13"/>
          <p:cNvSpPr/>
          <p:nvPr/>
        </p:nvSpPr>
        <p:spPr>
          <a:xfrm>
            <a:off x="2926080" y="2026919"/>
            <a:ext cx="3575748" cy="12700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28" y="1988819"/>
            <a:ext cx="594360" cy="203200"/>
          </a:xfrm>
          <a:prstGeom prst="rect">
            <a:avLst/>
          </a:prstGeom>
          <a:noFill/>
        </p:spPr>
        <p:txBody>
          <a:bodyPr wrap="square">
            <a:spAutoFit/>
          </a:bodyPr>
          <a:lstStyle/>
          <a:p>
            <a:pPr algn="l"/>
            <a:r>
              <a:rPr sz="900" b="0">
                <a:solidFill>
                  <a:srgbClr val="99928D"/>
                </a:solidFill>
                <a:latin typeface="Helvetica Neue"/>
              </a:rPr>
              <a:t>278票</a:t>
            </a:r>
          </a:p>
        </p:txBody>
      </p:sp>
      <p:sp>
        <p:nvSpPr>
          <p:cNvPr id="16" name="Rectangle 15"/>
          <p:cNvSpPr/>
          <p:nvPr/>
        </p:nvSpPr>
        <p:spPr>
          <a:xfrm>
            <a:off x="2926080" y="2217419"/>
            <a:ext cx="1453451" cy="1270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43031" y="2179319"/>
            <a:ext cx="594360" cy="203200"/>
          </a:xfrm>
          <a:prstGeom prst="rect">
            <a:avLst/>
          </a:prstGeom>
          <a:noFill/>
        </p:spPr>
        <p:txBody>
          <a:bodyPr wrap="square">
            <a:spAutoFit/>
          </a:bodyPr>
          <a:lstStyle/>
          <a:p>
            <a:pPr algn="l"/>
            <a:r>
              <a:rPr sz="900" b="0">
                <a:solidFill>
                  <a:srgbClr val="99928D"/>
                </a:solidFill>
                <a:latin typeface="Helvetica Neue"/>
              </a:rPr>
              <a:t>113票</a:t>
            </a:r>
          </a:p>
        </p:txBody>
      </p:sp>
      <p:sp>
        <p:nvSpPr>
          <p:cNvPr id="18" name="TextBox 17"/>
          <p:cNvSpPr txBox="1"/>
          <p:nvPr/>
        </p:nvSpPr>
        <p:spPr>
          <a:xfrm>
            <a:off x="9509760" y="1938019"/>
            <a:ext cx="1371600" cy="621792"/>
          </a:xfrm>
          <a:prstGeom prst="rect">
            <a:avLst/>
          </a:prstGeom>
          <a:noFill/>
        </p:spPr>
        <p:txBody>
          <a:bodyPr wrap="square">
            <a:spAutoFit/>
          </a:bodyPr>
          <a:lstStyle/>
          <a:p>
            <a:pPr algn="r"/>
            <a:r>
              <a:rPr sz="2800" b="1">
                <a:solidFill>
                  <a:srgbClr val="B89640"/>
                </a:solidFill>
                <a:latin typeface="Helvetica Neue"/>
              </a:rPr>
              <a:t>78.2%</a:t>
            </a:r>
          </a:p>
        </p:txBody>
      </p:sp>
      <p:sp>
        <p:nvSpPr>
          <p:cNvPr id="19" name="TextBox 18"/>
          <p:cNvSpPr txBox="1"/>
          <p:nvPr/>
        </p:nvSpPr>
        <p:spPr>
          <a:xfrm>
            <a:off x="9509760" y="2484119"/>
            <a:ext cx="1371600" cy="203200"/>
          </a:xfrm>
          <a:prstGeom prst="rect">
            <a:avLst/>
          </a:prstGeom>
          <a:noFill/>
        </p:spPr>
        <p:txBody>
          <a:bodyPr wrap="square">
            <a:spAutoFit/>
          </a:bodyPr>
          <a:lstStyle/>
          <a:p>
            <a:pPr algn="r"/>
            <a:r>
              <a:rPr sz="900" b="0">
                <a:solidFill>
                  <a:srgbClr val="99928D"/>
                </a:solidFill>
                <a:latin typeface="Helvetica Neue"/>
              </a:rPr>
              <a:t>合計 391票</a:t>
            </a:r>
          </a:p>
        </p:txBody>
      </p:sp>
      <p:sp>
        <p:nvSpPr>
          <p:cNvPr id="20" name="Rectangle 19"/>
          <p:cNvSpPr/>
          <p:nvPr/>
        </p:nvSpPr>
        <p:spPr>
          <a:xfrm>
            <a:off x="640080" y="2641091"/>
            <a:ext cx="10881360"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806191"/>
            <a:ext cx="384048" cy="502920"/>
          </a:xfrm>
          <a:prstGeom prst="rect">
            <a:avLst/>
          </a:prstGeom>
          <a:noFill/>
        </p:spPr>
        <p:txBody>
          <a:bodyPr wrap="square">
            <a:spAutoFit/>
          </a:bodyPr>
          <a:lstStyle/>
          <a:p>
            <a:pPr algn="l"/>
            <a:r>
              <a:rPr sz="1000" b="1">
                <a:solidFill>
                  <a:srgbClr val="99928D"/>
                </a:solidFill>
                <a:latin typeface="Helvetica Neue"/>
              </a:rPr>
              <a:t>02</a:t>
            </a:r>
          </a:p>
        </p:txBody>
      </p:sp>
      <p:sp>
        <p:nvSpPr>
          <p:cNvPr id="22" name="TextBox 21"/>
          <p:cNvSpPr txBox="1"/>
          <p:nvPr/>
        </p:nvSpPr>
        <p:spPr>
          <a:xfrm>
            <a:off x="1143000" y="2780791"/>
            <a:ext cx="1554480" cy="502920"/>
          </a:xfrm>
          <a:prstGeom prst="rect">
            <a:avLst/>
          </a:prstGeom>
          <a:noFill/>
        </p:spPr>
        <p:txBody>
          <a:bodyPr wrap="square">
            <a:spAutoFit/>
          </a:bodyPr>
          <a:lstStyle/>
          <a:p>
            <a:pPr algn="l"/>
            <a:r>
              <a:rPr sz="1500" b="0">
                <a:solidFill>
                  <a:srgbClr val="2A221E"/>
                </a:solidFill>
                <a:latin typeface="Hiragino Kaku Gothic ProN"/>
              </a:rPr>
              <a:t>世界の評価</a:t>
            </a:r>
          </a:p>
        </p:txBody>
      </p:sp>
      <p:sp>
        <p:nvSpPr>
          <p:cNvPr id="23" name="Rectangle 22"/>
          <p:cNvSpPr/>
          <p:nvPr/>
        </p:nvSpPr>
        <p:spPr>
          <a:xfrm>
            <a:off x="2926080" y="2831591"/>
            <a:ext cx="591670" cy="1270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81250" y="2793491"/>
            <a:ext cx="594360" cy="203200"/>
          </a:xfrm>
          <a:prstGeom prst="rect">
            <a:avLst/>
          </a:prstGeom>
          <a:noFill/>
        </p:spPr>
        <p:txBody>
          <a:bodyPr wrap="square">
            <a:spAutoFit/>
          </a:bodyPr>
          <a:lstStyle/>
          <a:p>
            <a:pPr algn="l"/>
            <a:r>
              <a:rPr sz="900" b="0">
                <a:solidFill>
                  <a:srgbClr val="99928D"/>
                </a:solidFill>
                <a:latin typeface="Helvetica Neue"/>
              </a:rPr>
              <a:t>46票</a:t>
            </a:r>
          </a:p>
        </p:txBody>
      </p:sp>
      <p:sp>
        <p:nvSpPr>
          <p:cNvPr id="25" name="Rectangle 24"/>
          <p:cNvSpPr/>
          <p:nvPr/>
        </p:nvSpPr>
        <p:spPr>
          <a:xfrm>
            <a:off x="2926080" y="3022091"/>
            <a:ext cx="1402002" cy="1270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91582" y="2983991"/>
            <a:ext cx="594360" cy="203200"/>
          </a:xfrm>
          <a:prstGeom prst="rect">
            <a:avLst/>
          </a:prstGeom>
          <a:noFill/>
        </p:spPr>
        <p:txBody>
          <a:bodyPr wrap="square">
            <a:spAutoFit/>
          </a:bodyPr>
          <a:lstStyle/>
          <a:p>
            <a:pPr algn="l"/>
            <a:r>
              <a:rPr sz="900" b="0">
                <a:solidFill>
                  <a:srgbClr val="99928D"/>
                </a:solidFill>
                <a:latin typeface="Helvetica Neue"/>
              </a:rPr>
              <a:t>109票</a:t>
            </a:r>
          </a:p>
        </p:txBody>
      </p:sp>
      <p:sp>
        <p:nvSpPr>
          <p:cNvPr id="27" name="TextBox 26"/>
          <p:cNvSpPr txBox="1"/>
          <p:nvPr/>
        </p:nvSpPr>
        <p:spPr>
          <a:xfrm>
            <a:off x="9509760" y="2742691"/>
            <a:ext cx="1371600" cy="621792"/>
          </a:xfrm>
          <a:prstGeom prst="rect">
            <a:avLst/>
          </a:prstGeom>
          <a:noFill/>
        </p:spPr>
        <p:txBody>
          <a:bodyPr wrap="square">
            <a:spAutoFit/>
          </a:bodyPr>
          <a:lstStyle/>
          <a:p>
            <a:pPr algn="r"/>
            <a:r>
              <a:rPr sz="2800" b="0" dirty="0">
                <a:solidFill>
                  <a:srgbClr val="2A221E"/>
                </a:solidFill>
                <a:latin typeface="Helvetica Neue"/>
              </a:rPr>
              <a:t>31.0%</a:t>
            </a:r>
          </a:p>
        </p:txBody>
      </p:sp>
      <p:sp>
        <p:nvSpPr>
          <p:cNvPr id="28" name="TextBox 27"/>
          <p:cNvSpPr txBox="1"/>
          <p:nvPr/>
        </p:nvSpPr>
        <p:spPr>
          <a:xfrm>
            <a:off x="9509760" y="3288791"/>
            <a:ext cx="1371600" cy="203200"/>
          </a:xfrm>
          <a:prstGeom prst="rect">
            <a:avLst/>
          </a:prstGeom>
          <a:noFill/>
        </p:spPr>
        <p:txBody>
          <a:bodyPr wrap="square">
            <a:spAutoFit/>
          </a:bodyPr>
          <a:lstStyle/>
          <a:p>
            <a:pPr algn="r"/>
            <a:r>
              <a:rPr sz="900" b="0">
                <a:solidFill>
                  <a:srgbClr val="99928D"/>
                </a:solidFill>
                <a:latin typeface="Helvetica Neue"/>
              </a:rPr>
              <a:t>合計 155票</a:t>
            </a:r>
          </a:p>
        </p:txBody>
      </p:sp>
      <p:sp>
        <p:nvSpPr>
          <p:cNvPr id="29" name="Rectangle 28"/>
          <p:cNvSpPr/>
          <p:nvPr/>
        </p:nvSpPr>
        <p:spPr>
          <a:xfrm>
            <a:off x="640080" y="3445763"/>
            <a:ext cx="10881360"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3483863"/>
            <a:ext cx="11247120" cy="779272"/>
          </a:xfrm>
          <a:prstGeom prst="rect">
            <a:avLst/>
          </a:prstGeom>
          <a:solidFill>
            <a:srgbClr val="F8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610863"/>
            <a:ext cx="384048" cy="502920"/>
          </a:xfrm>
          <a:prstGeom prst="rect">
            <a:avLst/>
          </a:prstGeom>
          <a:noFill/>
        </p:spPr>
        <p:txBody>
          <a:bodyPr wrap="square">
            <a:spAutoFit/>
          </a:bodyPr>
          <a:lstStyle/>
          <a:p>
            <a:pPr algn="l"/>
            <a:r>
              <a:rPr sz="1000" b="1">
                <a:solidFill>
                  <a:srgbClr val="99928D"/>
                </a:solidFill>
                <a:latin typeface="Helvetica Neue"/>
              </a:rPr>
              <a:t>03</a:t>
            </a:r>
          </a:p>
        </p:txBody>
      </p:sp>
      <p:sp>
        <p:nvSpPr>
          <p:cNvPr id="32" name="TextBox 31"/>
          <p:cNvSpPr txBox="1"/>
          <p:nvPr/>
        </p:nvSpPr>
        <p:spPr>
          <a:xfrm>
            <a:off x="1143000" y="3585463"/>
            <a:ext cx="1554480" cy="502920"/>
          </a:xfrm>
          <a:prstGeom prst="rect">
            <a:avLst/>
          </a:prstGeom>
          <a:noFill/>
        </p:spPr>
        <p:txBody>
          <a:bodyPr wrap="square">
            <a:spAutoFit/>
          </a:bodyPr>
          <a:lstStyle/>
          <a:p>
            <a:pPr algn="l"/>
            <a:r>
              <a:rPr sz="1500" b="0">
                <a:solidFill>
                  <a:srgbClr val="2A221E"/>
                </a:solidFill>
                <a:latin typeface="Hiragino Kaku Gothic ProN"/>
              </a:rPr>
              <a:t>復活の物語</a:t>
            </a:r>
          </a:p>
        </p:txBody>
      </p:sp>
      <p:sp>
        <p:nvSpPr>
          <p:cNvPr id="33" name="Rectangle 32"/>
          <p:cNvSpPr/>
          <p:nvPr/>
        </p:nvSpPr>
        <p:spPr>
          <a:xfrm>
            <a:off x="2926080" y="3636263"/>
            <a:ext cx="861781" cy="1270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51361" y="3598163"/>
            <a:ext cx="594360" cy="203200"/>
          </a:xfrm>
          <a:prstGeom prst="rect">
            <a:avLst/>
          </a:prstGeom>
          <a:noFill/>
        </p:spPr>
        <p:txBody>
          <a:bodyPr wrap="square">
            <a:spAutoFit/>
          </a:bodyPr>
          <a:lstStyle/>
          <a:p>
            <a:pPr algn="l"/>
            <a:r>
              <a:rPr sz="900" b="0">
                <a:solidFill>
                  <a:srgbClr val="99928D"/>
                </a:solidFill>
                <a:latin typeface="Helvetica Neue"/>
              </a:rPr>
              <a:t>67票</a:t>
            </a:r>
          </a:p>
        </p:txBody>
      </p:sp>
      <p:sp>
        <p:nvSpPr>
          <p:cNvPr id="35" name="Rectangle 34"/>
          <p:cNvSpPr/>
          <p:nvPr/>
        </p:nvSpPr>
        <p:spPr>
          <a:xfrm>
            <a:off x="2926080" y="3826763"/>
            <a:ext cx="1119029" cy="1270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08609" y="3788663"/>
            <a:ext cx="594360" cy="203200"/>
          </a:xfrm>
          <a:prstGeom prst="rect">
            <a:avLst/>
          </a:prstGeom>
          <a:noFill/>
        </p:spPr>
        <p:txBody>
          <a:bodyPr wrap="square">
            <a:spAutoFit/>
          </a:bodyPr>
          <a:lstStyle/>
          <a:p>
            <a:pPr algn="l"/>
            <a:r>
              <a:rPr sz="900" b="0">
                <a:solidFill>
                  <a:srgbClr val="99928D"/>
                </a:solidFill>
                <a:latin typeface="Helvetica Neue"/>
              </a:rPr>
              <a:t>87票</a:t>
            </a:r>
          </a:p>
        </p:txBody>
      </p:sp>
      <p:sp>
        <p:nvSpPr>
          <p:cNvPr id="37" name="TextBox 36"/>
          <p:cNvSpPr txBox="1"/>
          <p:nvPr/>
        </p:nvSpPr>
        <p:spPr>
          <a:xfrm>
            <a:off x="9509760" y="3547363"/>
            <a:ext cx="1371600" cy="621792"/>
          </a:xfrm>
          <a:prstGeom prst="rect">
            <a:avLst/>
          </a:prstGeom>
          <a:noFill/>
        </p:spPr>
        <p:txBody>
          <a:bodyPr wrap="square">
            <a:spAutoFit/>
          </a:bodyPr>
          <a:lstStyle/>
          <a:p>
            <a:pPr algn="r"/>
            <a:r>
              <a:rPr sz="2800" b="0">
                <a:solidFill>
                  <a:srgbClr val="2A221E"/>
                </a:solidFill>
                <a:latin typeface="Helvetica Neue"/>
              </a:rPr>
              <a:t>30.8%</a:t>
            </a:r>
          </a:p>
        </p:txBody>
      </p:sp>
      <p:sp>
        <p:nvSpPr>
          <p:cNvPr id="38" name="TextBox 37"/>
          <p:cNvSpPr txBox="1"/>
          <p:nvPr/>
        </p:nvSpPr>
        <p:spPr>
          <a:xfrm>
            <a:off x="9509760" y="4093463"/>
            <a:ext cx="1371600" cy="203200"/>
          </a:xfrm>
          <a:prstGeom prst="rect">
            <a:avLst/>
          </a:prstGeom>
          <a:noFill/>
        </p:spPr>
        <p:txBody>
          <a:bodyPr wrap="square">
            <a:spAutoFit/>
          </a:bodyPr>
          <a:lstStyle/>
          <a:p>
            <a:pPr algn="r"/>
            <a:r>
              <a:rPr sz="900" b="0">
                <a:solidFill>
                  <a:srgbClr val="99928D"/>
                </a:solidFill>
                <a:latin typeface="Helvetica Neue"/>
              </a:rPr>
              <a:t>合計 154票</a:t>
            </a:r>
          </a:p>
        </p:txBody>
      </p:sp>
      <p:sp>
        <p:nvSpPr>
          <p:cNvPr id="39" name="Rectangle 38"/>
          <p:cNvSpPr/>
          <p:nvPr/>
        </p:nvSpPr>
        <p:spPr>
          <a:xfrm>
            <a:off x="640080" y="4250435"/>
            <a:ext cx="10881360"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4415535"/>
            <a:ext cx="384048" cy="502920"/>
          </a:xfrm>
          <a:prstGeom prst="rect">
            <a:avLst/>
          </a:prstGeom>
          <a:noFill/>
        </p:spPr>
        <p:txBody>
          <a:bodyPr wrap="square">
            <a:spAutoFit/>
          </a:bodyPr>
          <a:lstStyle/>
          <a:p>
            <a:pPr algn="l"/>
            <a:r>
              <a:rPr sz="1000" b="1">
                <a:solidFill>
                  <a:srgbClr val="99928D"/>
                </a:solidFill>
                <a:latin typeface="Helvetica Neue"/>
              </a:rPr>
              <a:t>04</a:t>
            </a:r>
          </a:p>
        </p:txBody>
      </p:sp>
      <p:sp>
        <p:nvSpPr>
          <p:cNvPr id="41" name="TextBox 40"/>
          <p:cNvSpPr txBox="1"/>
          <p:nvPr/>
        </p:nvSpPr>
        <p:spPr>
          <a:xfrm>
            <a:off x="1143000" y="4390135"/>
            <a:ext cx="1554480" cy="502920"/>
          </a:xfrm>
          <a:prstGeom prst="rect">
            <a:avLst/>
          </a:prstGeom>
          <a:noFill/>
        </p:spPr>
        <p:txBody>
          <a:bodyPr wrap="square">
            <a:spAutoFit/>
          </a:bodyPr>
          <a:lstStyle/>
          <a:p>
            <a:pPr algn="l"/>
            <a:r>
              <a:rPr sz="1500" b="0">
                <a:solidFill>
                  <a:srgbClr val="2A221E"/>
                </a:solidFill>
                <a:latin typeface="Hiragino Kaku Gothic ProN"/>
              </a:rPr>
              <a:t>太古の記憶</a:t>
            </a:r>
          </a:p>
        </p:txBody>
      </p:sp>
      <p:sp>
        <p:nvSpPr>
          <p:cNvPr id="42" name="Rectangle 41"/>
          <p:cNvSpPr/>
          <p:nvPr/>
        </p:nvSpPr>
        <p:spPr>
          <a:xfrm>
            <a:off x="2926080" y="4440935"/>
            <a:ext cx="720294" cy="1270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709874" y="4402835"/>
            <a:ext cx="594360" cy="203200"/>
          </a:xfrm>
          <a:prstGeom prst="rect">
            <a:avLst/>
          </a:prstGeom>
          <a:noFill/>
        </p:spPr>
        <p:txBody>
          <a:bodyPr wrap="square">
            <a:spAutoFit/>
          </a:bodyPr>
          <a:lstStyle/>
          <a:p>
            <a:pPr algn="l"/>
            <a:r>
              <a:rPr sz="900" b="0">
                <a:solidFill>
                  <a:srgbClr val="99928D"/>
                </a:solidFill>
                <a:latin typeface="Helvetica Neue"/>
              </a:rPr>
              <a:t>56票</a:t>
            </a:r>
          </a:p>
        </p:txBody>
      </p:sp>
      <p:sp>
        <p:nvSpPr>
          <p:cNvPr id="44" name="Rectangle 43"/>
          <p:cNvSpPr/>
          <p:nvPr/>
        </p:nvSpPr>
        <p:spPr>
          <a:xfrm>
            <a:off x="2926080" y="4631435"/>
            <a:ext cx="1119029" cy="1270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08609" y="4593335"/>
            <a:ext cx="594360" cy="203200"/>
          </a:xfrm>
          <a:prstGeom prst="rect">
            <a:avLst/>
          </a:prstGeom>
          <a:noFill/>
        </p:spPr>
        <p:txBody>
          <a:bodyPr wrap="square">
            <a:spAutoFit/>
          </a:bodyPr>
          <a:lstStyle/>
          <a:p>
            <a:pPr algn="l"/>
            <a:r>
              <a:rPr sz="900" b="0">
                <a:solidFill>
                  <a:srgbClr val="99928D"/>
                </a:solidFill>
                <a:latin typeface="Helvetica Neue"/>
              </a:rPr>
              <a:t>87票</a:t>
            </a:r>
          </a:p>
        </p:txBody>
      </p:sp>
      <p:sp>
        <p:nvSpPr>
          <p:cNvPr id="46" name="TextBox 45"/>
          <p:cNvSpPr txBox="1"/>
          <p:nvPr/>
        </p:nvSpPr>
        <p:spPr>
          <a:xfrm>
            <a:off x="9509760" y="4352035"/>
            <a:ext cx="1371600" cy="621792"/>
          </a:xfrm>
          <a:prstGeom prst="rect">
            <a:avLst/>
          </a:prstGeom>
          <a:noFill/>
        </p:spPr>
        <p:txBody>
          <a:bodyPr wrap="square">
            <a:spAutoFit/>
          </a:bodyPr>
          <a:lstStyle/>
          <a:p>
            <a:pPr algn="r"/>
            <a:r>
              <a:rPr sz="2800" b="0">
                <a:solidFill>
                  <a:srgbClr val="2A221E"/>
                </a:solidFill>
                <a:latin typeface="Helvetica Neue"/>
              </a:rPr>
              <a:t>28.6%</a:t>
            </a:r>
          </a:p>
        </p:txBody>
      </p:sp>
      <p:sp>
        <p:nvSpPr>
          <p:cNvPr id="47" name="TextBox 46"/>
          <p:cNvSpPr txBox="1"/>
          <p:nvPr/>
        </p:nvSpPr>
        <p:spPr>
          <a:xfrm>
            <a:off x="9509760" y="4898135"/>
            <a:ext cx="1371600" cy="203200"/>
          </a:xfrm>
          <a:prstGeom prst="rect">
            <a:avLst/>
          </a:prstGeom>
          <a:noFill/>
        </p:spPr>
        <p:txBody>
          <a:bodyPr wrap="square">
            <a:spAutoFit/>
          </a:bodyPr>
          <a:lstStyle/>
          <a:p>
            <a:pPr algn="r"/>
            <a:r>
              <a:rPr sz="900" b="0">
                <a:solidFill>
                  <a:srgbClr val="99928D"/>
                </a:solidFill>
                <a:latin typeface="Helvetica Neue"/>
              </a:rPr>
              <a:t>合計 143票</a:t>
            </a:r>
          </a:p>
        </p:txBody>
      </p:sp>
      <p:sp>
        <p:nvSpPr>
          <p:cNvPr id="48" name="Rectangle 47"/>
          <p:cNvSpPr/>
          <p:nvPr/>
        </p:nvSpPr>
        <p:spPr>
          <a:xfrm>
            <a:off x="640080" y="5055107"/>
            <a:ext cx="10881360"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57200" y="5093207"/>
            <a:ext cx="11247120" cy="779272"/>
          </a:xfrm>
          <a:prstGeom prst="rect">
            <a:avLst/>
          </a:prstGeom>
          <a:solidFill>
            <a:srgbClr val="F8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5800" y="5220207"/>
            <a:ext cx="384048" cy="502920"/>
          </a:xfrm>
          <a:prstGeom prst="rect">
            <a:avLst/>
          </a:prstGeom>
          <a:noFill/>
        </p:spPr>
        <p:txBody>
          <a:bodyPr wrap="square">
            <a:spAutoFit/>
          </a:bodyPr>
          <a:lstStyle/>
          <a:p>
            <a:pPr algn="l"/>
            <a:r>
              <a:rPr sz="1000" b="1">
                <a:solidFill>
                  <a:srgbClr val="99928D"/>
                </a:solidFill>
                <a:latin typeface="Helvetica Neue"/>
              </a:rPr>
              <a:t>05</a:t>
            </a:r>
          </a:p>
        </p:txBody>
      </p:sp>
      <p:sp>
        <p:nvSpPr>
          <p:cNvPr id="51" name="TextBox 50"/>
          <p:cNvSpPr txBox="1"/>
          <p:nvPr/>
        </p:nvSpPr>
        <p:spPr>
          <a:xfrm>
            <a:off x="1143000" y="5194807"/>
            <a:ext cx="1554480" cy="502920"/>
          </a:xfrm>
          <a:prstGeom prst="rect">
            <a:avLst/>
          </a:prstGeom>
          <a:noFill/>
        </p:spPr>
        <p:txBody>
          <a:bodyPr wrap="square">
            <a:spAutoFit/>
          </a:bodyPr>
          <a:lstStyle/>
          <a:p>
            <a:pPr algn="l"/>
            <a:r>
              <a:rPr sz="1500" b="0">
                <a:solidFill>
                  <a:srgbClr val="2A221E"/>
                </a:solidFill>
                <a:latin typeface="Hiragino Kaku Gothic ProN"/>
              </a:rPr>
              <a:t>究極の脇役</a:t>
            </a:r>
          </a:p>
        </p:txBody>
      </p:sp>
      <p:sp>
        <p:nvSpPr>
          <p:cNvPr id="52" name="Rectangle 51"/>
          <p:cNvSpPr/>
          <p:nvPr/>
        </p:nvSpPr>
        <p:spPr>
          <a:xfrm>
            <a:off x="2926080" y="5245607"/>
            <a:ext cx="591670" cy="1270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581250" y="5207507"/>
            <a:ext cx="594360" cy="203200"/>
          </a:xfrm>
          <a:prstGeom prst="rect">
            <a:avLst/>
          </a:prstGeom>
          <a:noFill/>
        </p:spPr>
        <p:txBody>
          <a:bodyPr wrap="square">
            <a:spAutoFit/>
          </a:bodyPr>
          <a:lstStyle/>
          <a:p>
            <a:pPr algn="l"/>
            <a:r>
              <a:rPr sz="900" b="0">
                <a:solidFill>
                  <a:srgbClr val="99928D"/>
                </a:solidFill>
                <a:latin typeface="Helvetica Neue"/>
              </a:rPr>
              <a:t>46票</a:t>
            </a:r>
          </a:p>
        </p:txBody>
      </p:sp>
      <p:sp>
        <p:nvSpPr>
          <p:cNvPr id="54" name="Rectangle 53"/>
          <p:cNvSpPr/>
          <p:nvPr/>
        </p:nvSpPr>
        <p:spPr>
          <a:xfrm>
            <a:off x="2926080" y="5436107"/>
            <a:ext cx="1183341" cy="1270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172921" y="5398007"/>
            <a:ext cx="594360" cy="203200"/>
          </a:xfrm>
          <a:prstGeom prst="rect">
            <a:avLst/>
          </a:prstGeom>
          <a:noFill/>
        </p:spPr>
        <p:txBody>
          <a:bodyPr wrap="square">
            <a:spAutoFit/>
          </a:bodyPr>
          <a:lstStyle/>
          <a:p>
            <a:pPr algn="l"/>
            <a:r>
              <a:rPr sz="900" b="0">
                <a:solidFill>
                  <a:srgbClr val="99928D"/>
                </a:solidFill>
                <a:latin typeface="Helvetica Neue"/>
              </a:rPr>
              <a:t>92票</a:t>
            </a:r>
          </a:p>
        </p:txBody>
      </p:sp>
      <p:sp>
        <p:nvSpPr>
          <p:cNvPr id="56" name="TextBox 55"/>
          <p:cNvSpPr txBox="1"/>
          <p:nvPr/>
        </p:nvSpPr>
        <p:spPr>
          <a:xfrm>
            <a:off x="9509760" y="5156707"/>
            <a:ext cx="1371600" cy="621792"/>
          </a:xfrm>
          <a:prstGeom prst="rect">
            <a:avLst/>
          </a:prstGeom>
          <a:noFill/>
        </p:spPr>
        <p:txBody>
          <a:bodyPr wrap="square">
            <a:spAutoFit/>
          </a:bodyPr>
          <a:lstStyle/>
          <a:p>
            <a:pPr algn="r"/>
            <a:r>
              <a:rPr sz="2800" b="0">
                <a:solidFill>
                  <a:srgbClr val="2A221E"/>
                </a:solidFill>
                <a:latin typeface="Helvetica Neue"/>
              </a:rPr>
              <a:t>27.6%</a:t>
            </a:r>
          </a:p>
        </p:txBody>
      </p:sp>
      <p:sp>
        <p:nvSpPr>
          <p:cNvPr id="57" name="TextBox 56"/>
          <p:cNvSpPr txBox="1"/>
          <p:nvPr/>
        </p:nvSpPr>
        <p:spPr>
          <a:xfrm>
            <a:off x="9509760" y="5702807"/>
            <a:ext cx="1371600" cy="203200"/>
          </a:xfrm>
          <a:prstGeom prst="rect">
            <a:avLst/>
          </a:prstGeom>
          <a:noFill/>
        </p:spPr>
        <p:txBody>
          <a:bodyPr wrap="square">
            <a:spAutoFit/>
          </a:bodyPr>
          <a:lstStyle/>
          <a:p>
            <a:pPr algn="r"/>
            <a:r>
              <a:rPr sz="900" b="0">
                <a:solidFill>
                  <a:srgbClr val="99928D"/>
                </a:solidFill>
                <a:latin typeface="Helvetica Neue"/>
              </a:rPr>
              <a:t>合計 138票</a:t>
            </a:r>
          </a:p>
        </p:txBody>
      </p:sp>
      <p:sp>
        <p:nvSpPr>
          <p:cNvPr id="58" name="Rectangle 57"/>
          <p:cNvSpPr/>
          <p:nvPr/>
        </p:nvSpPr>
        <p:spPr>
          <a:xfrm>
            <a:off x="640080" y="5859779"/>
            <a:ext cx="10881360"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58368" y="6035040"/>
            <a:ext cx="177800" cy="10160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96112" y="5989320"/>
            <a:ext cx="1280160" cy="228600"/>
          </a:xfrm>
          <a:prstGeom prst="rect">
            <a:avLst/>
          </a:prstGeom>
          <a:noFill/>
        </p:spPr>
        <p:txBody>
          <a:bodyPr wrap="square">
            <a:spAutoFit/>
          </a:bodyPr>
          <a:lstStyle/>
          <a:p>
            <a:pPr algn="l"/>
            <a:r>
              <a:rPr sz="900" b="0">
                <a:solidFill>
                  <a:srgbClr val="99928D"/>
                </a:solidFill>
                <a:latin typeface="Helvetica Neue"/>
              </a:rPr>
              <a:t>1位票</a:t>
            </a:r>
          </a:p>
        </p:txBody>
      </p:sp>
      <p:sp>
        <p:nvSpPr>
          <p:cNvPr id="61" name="Rectangle 60"/>
          <p:cNvSpPr/>
          <p:nvPr/>
        </p:nvSpPr>
        <p:spPr>
          <a:xfrm>
            <a:off x="1920240" y="6035040"/>
            <a:ext cx="177800" cy="1016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157984" y="5989320"/>
            <a:ext cx="1280160" cy="228600"/>
          </a:xfrm>
          <a:prstGeom prst="rect">
            <a:avLst/>
          </a:prstGeom>
          <a:noFill/>
        </p:spPr>
        <p:txBody>
          <a:bodyPr wrap="square">
            <a:spAutoFit/>
          </a:bodyPr>
          <a:lstStyle/>
          <a:p>
            <a:pPr algn="l"/>
            <a:r>
              <a:rPr sz="900" b="0">
                <a:solidFill>
                  <a:srgbClr val="99928D"/>
                </a:solidFill>
                <a:latin typeface="Helvetica Neue"/>
              </a:rPr>
              <a:t>2位票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201168"/>
            <a:ext cx="11786616" cy="64556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01168"/>
            <a:ext cx="11786616" cy="6455664"/>
          </a:xfrm>
          <a:prstGeom prst="rect">
            <a:avLst/>
          </a:prstGeom>
          <a:noFill/>
          <a:ln w="9525">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7472" y="274320"/>
            <a:ext cx="825500" cy="2794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9072" y="312420"/>
            <a:ext cx="825500" cy="279400"/>
          </a:xfrm>
          <a:prstGeom prst="rect">
            <a:avLst/>
          </a:prstGeom>
          <a:noFill/>
        </p:spPr>
        <p:txBody>
          <a:bodyPr wrap="square">
            <a:spAutoFit/>
          </a:bodyPr>
          <a:lstStyle/>
          <a:p>
            <a:pPr algn="l"/>
            <a:r>
              <a:rPr sz="850" b="1">
                <a:solidFill>
                  <a:srgbClr val="FFFFFF"/>
                </a:solidFill>
                <a:latin typeface="Helvetica Neue"/>
              </a:rPr>
              <a:t>ギャップ分析</a:t>
            </a:r>
          </a:p>
        </p:txBody>
      </p:sp>
      <p:sp>
        <p:nvSpPr>
          <p:cNvPr id="7" name="TextBox 6"/>
          <p:cNvSpPr txBox="1"/>
          <p:nvPr/>
        </p:nvSpPr>
        <p:spPr>
          <a:xfrm>
            <a:off x="640080" y="777240"/>
            <a:ext cx="7315200" cy="658368"/>
          </a:xfrm>
          <a:prstGeom prst="rect">
            <a:avLst/>
          </a:prstGeom>
          <a:noFill/>
        </p:spPr>
        <p:txBody>
          <a:bodyPr wrap="square">
            <a:spAutoFit/>
          </a:bodyPr>
          <a:lstStyle/>
          <a:p>
            <a:pPr algn="l"/>
            <a:r>
              <a:rPr sz="2800" b="1">
                <a:solidFill>
                  <a:srgbClr val="2A221E"/>
                </a:solidFill>
                <a:latin typeface="Hiragino Kaku Gothic ProN"/>
              </a:rPr>
              <a:t>期待のギャップ分析</a:t>
            </a:r>
          </a:p>
        </p:txBody>
      </p:sp>
      <p:sp>
        <p:nvSpPr>
          <p:cNvPr id="8" name="TextBox 7"/>
          <p:cNvSpPr txBox="1"/>
          <p:nvPr/>
        </p:nvSpPr>
        <p:spPr>
          <a:xfrm>
            <a:off x="640080" y="1389888"/>
            <a:ext cx="10058400" cy="347472"/>
          </a:xfrm>
          <a:prstGeom prst="rect">
            <a:avLst/>
          </a:prstGeom>
          <a:noFill/>
        </p:spPr>
        <p:txBody>
          <a:bodyPr wrap="square">
            <a:spAutoFit/>
          </a:bodyPr>
          <a:lstStyle/>
          <a:p>
            <a:pPr algn="l"/>
            <a:r>
              <a:rPr sz="1100" b="0">
                <a:solidFill>
                  <a:srgbClr val="554A45"/>
                </a:solidFill>
                <a:latin typeface="Hiragino Kaku Gothic ProN"/>
              </a:rPr>
              <a:t>1位票と2位票の差 ＝ 瞬時に選ばれるか、じわじわ評価されるかを示す。</a:t>
            </a:r>
          </a:p>
        </p:txBody>
      </p:sp>
      <p:sp>
        <p:nvSpPr>
          <p:cNvPr id="9" name="Rectangle 8"/>
          <p:cNvSpPr/>
          <p:nvPr/>
        </p:nvSpPr>
        <p:spPr>
          <a:xfrm>
            <a:off x="640080" y="1719072"/>
            <a:ext cx="10881360" cy="101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 y="1874519"/>
            <a:ext cx="2578608" cy="3931920"/>
          </a:xfrm>
          <a:prstGeom prst="rect">
            <a:avLst/>
          </a:prstGeom>
          <a:solidFill>
            <a:srgbClr val="FDFBF5"/>
          </a:solidFill>
          <a:ln w="15240">
            <a:solidFill>
              <a:srgbClr val="B89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8792" y="2001519"/>
            <a:ext cx="2324608" cy="2540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9592" y="2014219"/>
            <a:ext cx="2273808" cy="254000"/>
          </a:xfrm>
          <a:prstGeom prst="rect">
            <a:avLst/>
          </a:prstGeom>
          <a:noFill/>
        </p:spPr>
        <p:txBody>
          <a:bodyPr wrap="square">
            <a:spAutoFit/>
          </a:bodyPr>
          <a:lstStyle/>
          <a:p>
            <a:pPr algn="l"/>
            <a:r>
              <a:rPr sz="850" b="1">
                <a:solidFill>
                  <a:srgbClr val="FFFFFF"/>
                </a:solidFill>
                <a:latin typeface="Helvetica Neue"/>
              </a:rPr>
              <a:t>★ 一目惚れ型</a:t>
            </a:r>
          </a:p>
        </p:txBody>
      </p:sp>
      <p:sp>
        <p:nvSpPr>
          <p:cNvPr id="13" name="TextBox 12"/>
          <p:cNvSpPr txBox="1"/>
          <p:nvPr/>
        </p:nvSpPr>
        <p:spPr>
          <a:xfrm>
            <a:off x="748792" y="2331719"/>
            <a:ext cx="2375408" cy="355600"/>
          </a:xfrm>
          <a:prstGeom prst="rect">
            <a:avLst/>
          </a:prstGeom>
          <a:noFill/>
        </p:spPr>
        <p:txBody>
          <a:bodyPr wrap="square">
            <a:spAutoFit/>
          </a:bodyPr>
          <a:lstStyle/>
          <a:p>
            <a:pPr algn="l"/>
            <a:r>
              <a:rPr sz="1600" b="1">
                <a:solidFill>
                  <a:srgbClr val="2A221E"/>
                </a:solidFill>
                <a:latin typeface="Hiragino Kaku Gothic ProN"/>
              </a:rPr>
              <a:t>幻の米</a:t>
            </a:r>
          </a:p>
        </p:txBody>
      </p:sp>
      <p:sp>
        <p:nvSpPr>
          <p:cNvPr id="14" name="Rectangle 13"/>
          <p:cNvSpPr/>
          <p:nvPr/>
        </p:nvSpPr>
        <p:spPr>
          <a:xfrm>
            <a:off x="748792" y="2700019"/>
            <a:ext cx="2324608"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26592" y="2862070"/>
            <a:ext cx="533400" cy="109728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637792" y="3513333"/>
            <a:ext cx="533400" cy="446016"/>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6592" y="3997450"/>
            <a:ext cx="533400" cy="279400"/>
          </a:xfrm>
          <a:prstGeom prst="rect">
            <a:avLst/>
          </a:prstGeom>
          <a:noFill/>
        </p:spPr>
        <p:txBody>
          <a:bodyPr wrap="square">
            <a:spAutoFit/>
          </a:bodyPr>
          <a:lstStyle/>
          <a:p>
            <a:pPr algn="ctr"/>
            <a:r>
              <a:rPr sz="1400" b="1">
                <a:solidFill>
                  <a:srgbClr val="B89640"/>
                </a:solidFill>
                <a:latin typeface="Helvetica Neue"/>
              </a:rPr>
              <a:t>278</a:t>
            </a:r>
          </a:p>
        </p:txBody>
      </p:sp>
      <p:sp>
        <p:nvSpPr>
          <p:cNvPr id="18" name="TextBox 17"/>
          <p:cNvSpPr txBox="1"/>
          <p:nvPr/>
        </p:nvSpPr>
        <p:spPr>
          <a:xfrm>
            <a:off x="926592" y="4213350"/>
            <a:ext cx="533400" cy="177800"/>
          </a:xfrm>
          <a:prstGeom prst="rect">
            <a:avLst/>
          </a:prstGeom>
          <a:noFill/>
        </p:spPr>
        <p:txBody>
          <a:bodyPr wrap="square">
            <a:spAutoFit/>
          </a:bodyPr>
          <a:lstStyle/>
          <a:p>
            <a:pPr algn="ctr"/>
            <a:r>
              <a:rPr sz="800" b="0">
                <a:solidFill>
                  <a:srgbClr val="99928D"/>
                </a:solidFill>
                <a:latin typeface="Helvetica Neue"/>
              </a:rPr>
              <a:t>1位</a:t>
            </a:r>
          </a:p>
        </p:txBody>
      </p:sp>
      <p:sp>
        <p:nvSpPr>
          <p:cNvPr id="19" name="TextBox 18"/>
          <p:cNvSpPr txBox="1"/>
          <p:nvPr/>
        </p:nvSpPr>
        <p:spPr>
          <a:xfrm>
            <a:off x="1637792" y="3997450"/>
            <a:ext cx="533400" cy="279400"/>
          </a:xfrm>
          <a:prstGeom prst="rect">
            <a:avLst/>
          </a:prstGeom>
          <a:noFill/>
        </p:spPr>
        <p:txBody>
          <a:bodyPr wrap="square">
            <a:spAutoFit/>
          </a:bodyPr>
          <a:lstStyle/>
          <a:p>
            <a:pPr algn="ctr"/>
            <a:r>
              <a:rPr sz="1400" b="0">
                <a:solidFill>
                  <a:srgbClr val="554A45"/>
                </a:solidFill>
                <a:latin typeface="Helvetica Neue"/>
              </a:rPr>
              <a:t>113</a:t>
            </a:r>
          </a:p>
        </p:txBody>
      </p:sp>
      <p:sp>
        <p:nvSpPr>
          <p:cNvPr id="20" name="TextBox 19"/>
          <p:cNvSpPr txBox="1"/>
          <p:nvPr/>
        </p:nvSpPr>
        <p:spPr>
          <a:xfrm>
            <a:off x="1637792" y="4213350"/>
            <a:ext cx="533400" cy="177800"/>
          </a:xfrm>
          <a:prstGeom prst="rect">
            <a:avLst/>
          </a:prstGeom>
          <a:noFill/>
        </p:spPr>
        <p:txBody>
          <a:bodyPr wrap="square">
            <a:spAutoFit/>
          </a:bodyPr>
          <a:lstStyle/>
          <a:p>
            <a:pPr algn="ctr"/>
            <a:r>
              <a:rPr sz="800" b="0">
                <a:solidFill>
                  <a:srgbClr val="99928D"/>
                </a:solidFill>
                <a:latin typeface="Helvetica Neue"/>
              </a:rPr>
              <a:t>2位</a:t>
            </a:r>
          </a:p>
        </p:txBody>
      </p:sp>
      <p:sp>
        <p:nvSpPr>
          <p:cNvPr id="21" name="TextBox 20"/>
          <p:cNvSpPr txBox="1"/>
          <p:nvPr/>
        </p:nvSpPr>
        <p:spPr>
          <a:xfrm>
            <a:off x="748792" y="4467350"/>
            <a:ext cx="2375408" cy="279400"/>
          </a:xfrm>
          <a:prstGeom prst="rect">
            <a:avLst/>
          </a:prstGeom>
          <a:noFill/>
        </p:spPr>
        <p:txBody>
          <a:bodyPr wrap="square">
            <a:spAutoFit/>
          </a:bodyPr>
          <a:lstStyle/>
          <a:p>
            <a:pPr algn="ctr"/>
            <a:r>
              <a:rPr sz="1200" b="1">
                <a:solidFill>
                  <a:srgbClr val="B89640"/>
                </a:solidFill>
                <a:latin typeface="Helvetica Neue"/>
              </a:rPr>
              <a:t>差 +165票</a:t>
            </a:r>
          </a:p>
        </p:txBody>
      </p:sp>
      <p:sp>
        <p:nvSpPr>
          <p:cNvPr id="22" name="TextBox 21"/>
          <p:cNvSpPr txBox="1"/>
          <p:nvPr/>
        </p:nvSpPr>
        <p:spPr>
          <a:xfrm>
            <a:off x="748792" y="4772150"/>
            <a:ext cx="2375408" cy="660400"/>
          </a:xfrm>
          <a:prstGeom prst="rect">
            <a:avLst/>
          </a:prstGeom>
          <a:noFill/>
        </p:spPr>
        <p:txBody>
          <a:bodyPr wrap="square">
            <a:spAutoFit/>
          </a:bodyPr>
          <a:lstStyle/>
          <a:p>
            <a:pPr algn="l"/>
            <a:r>
              <a:rPr sz="1000" b="0">
                <a:solidFill>
                  <a:srgbClr val="554A45"/>
                </a:solidFill>
                <a:latin typeface="Hiragino Kaku Gothic ProN"/>
              </a:rPr>
              <a:t>見た瞬間に「これだ」と選ばれる。
広告ファーストビュー・パッケージに最適。</a:t>
            </a:r>
          </a:p>
        </p:txBody>
      </p:sp>
      <p:sp>
        <p:nvSpPr>
          <p:cNvPr id="23" name="Rectangle 22"/>
          <p:cNvSpPr/>
          <p:nvPr/>
        </p:nvSpPr>
        <p:spPr>
          <a:xfrm>
            <a:off x="3383280" y="1874519"/>
            <a:ext cx="2578608" cy="3931920"/>
          </a:xfrm>
          <a:prstGeom prst="rect">
            <a:avLst/>
          </a:prstGeom>
          <a:solidFill>
            <a:srgbClr val="FFFFFF"/>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510280" y="2001519"/>
            <a:ext cx="2324608" cy="254000"/>
          </a:xfrm>
          <a:prstGeom prst="rect">
            <a:avLst/>
          </a:prstGeom>
          <a:solidFill>
            <a:srgbClr val="EE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61080" y="2014219"/>
            <a:ext cx="2273808" cy="254000"/>
          </a:xfrm>
          <a:prstGeom prst="rect">
            <a:avLst/>
          </a:prstGeom>
          <a:noFill/>
        </p:spPr>
        <p:txBody>
          <a:bodyPr wrap="square">
            <a:spAutoFit/>
          </a:bodyPr>
          <a:lstStyle/>
          <a:p>
            <a:pPr algn="l"/>
            <a:r>
              <a:rPr sz="850" b="0">
                <a:solidFill>
                  <a:srgbClr val="99928D"/>
                </a:solidFill>
                <a:latin typeface="Helvetica Neue"/>
              </a:rPr>
              <a:t>じわじわ型 / 安心・信頼</a:t>
            </a:r>
          </a:p>
        </p:txBody>
      </p:sp>
      <p:sp>
        <p:nvSpPr>
          <p:cNvPr id="26" name="TextBox 25"/>
          <p:cNvSpPr txBox="1"/>
          <p:nvPr/>
        </p:nvSpPr>
        <p:spPr>
          <a:xfrm>
            <a:off x="3510280" y="2331719"/>
            <a:ext cx="2375408" cy="355600"/>
          </a:xfrm>
          <a:prstGeom prst="rect">
            <a:avLst/>
          </a:prstGeom>
          <a:noFill/>
        </p:spPr>
        <p:txBody>
          <a:bodyPr wrap="square">
            <a:spAutoFit/>
          </a:bodyPr>
          <a:lstStyle/>
          <a:p>
            <a:pPr algn="l"/>
            <a:r>
              <a:rPr sz="1600" b="0">
                <a:solidFill>
                  <a:srgbClr val="2A221E"/>
                </a:solidFill>
                <a:latin typeface="Hiragino Kaku Gothic ProN"/>
              </a:rPr>
              <a:t>世界の評価</a:t>
            </a:r>
          </a:p>
        </p:txBody>
      </p:sp>
      <p:sp>
        <p:nvSpPr>
          <p:cNvPr id="27" name="Rectangle 26"/>
          <p:cNvSpPr/>
          <p:nvPr/>
        </p:nvSpPr>
        <p:spPr>
          <a:xfrm>
            <a:off x="3510280" y="2700019"/>
            <a:ext cx="2324608"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88080" y="3777785"/>
            <a:ext cx="533400" cy="181564"/>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399280" y="3529121"/>
            <a:ext cx="533400" cy="430228"/>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88080" y="3997450"/>
            <a:ext cx="533400" cy="279400"/>
          </a:xfrm>
          <a:prstGeom prst="rect">
            <a:avLst/>
          </a:prstGeom>
          <a:noFill/>
        </p:spPr>
        <p:txBody>
          <a:bodyPr wrap="square">
            <a:spAutoFit/>
          </a:bodyPr>
          <a:lstStyle/>
          <a:p>
            <a:pPr algn="ctr"/>
            <a:r>
              <a:rPr sz="1400" b="1">
                <a:solidFill>
                  <a:srgbClr val="2A221E"/>
                </a:solidFill>
                <a:latin typeface="Helvetica Neue"/>
              </a:rPr>
              <a:t>46</a:t>
            </a:r>
          </a:p>
        </p:txBody>
      </p:sp>
      <p:sp>
        <p:nvSpPr>
          <p:cNvPr id="31" name="TextBox 30"/>
          <p:cNvSpPr txBox="1"/>
          <p:nvPr/>
        </p:nvSpPr>
        <p:spPr>
          <a:xfrm>
            <a:off x="3688080" y="4213350"/>
            <a:ext cx="533400" cy="177800"/>
          </a:xfrm>
          <a:prstGeom prst="rect">
            <a:avLst/>
          </a:prstGeom>
          <a:noFill/>
        </p:spPr>
        <p:txBody>
          <a:bodyPr wrap="square">
            <a:spAutoFit/>
          </a:bodyPr>
          <a:lstStyle/>
          <a:p>
            <a:pPr algn="ctr"/>
            <a:r>
              <a:rPr sz="800" b="0">
                <a:solidFill>
                  <a:srgbClr val="99928D"/>
                </a:solidFill>
                <a:latin typeface="Helvetica Neue"/>
              </a:rPr>
              <a:t>1位</a:t>
            </a:r>
          </a:p>
        </p:txBody>
      </p:sp>
      <p:sp>
        <p:nvSpPr>
          <p:cNvPr id="32" name="TextBox 31"/>
          <p:cNvSpPr txBox="1"/>
          <p:nvPr/>
        </p:nvSpPr>
        <p:spPr>
          <a:xfrm>
            <a:off x="4399280" y="3997450"/>
            <a:ext cx="533400" cy="279400"/>
          </a:xfrm>
          <a:prstGeom prst="rect">
            <a:avLst/>
          </a:prstGeom>
          <a:noFill/>
        </p:spPr>
        <p:txBody>
          <a:bodyPr wrap="square">
            <a:spAutoFit/>
          </a:bodyPr>
          <a:lstStyle/>
          <a:p>
            <a:pPr algn="ctr"/>
            <a:r>
              <a:rPr sz="1400" b="0">
                <a:solidFill>
                  <a:srgbClr val="554A45"/>
                </a:solidFill>
                <a:latin typeface="Helvetica Neue"/>
              </a:rPr>
              <a:t>109</a:t>
            </a:r>
          </a:p>
        </p:txBody>
      </p:sp>
      <p:sp>
        <p:nvSpPr>
          <p:cNvPr id="33" name="TextBox 32"/>
          <p:cNvSpPr txBox="1"/>
          <p:nvPr/>
        </p:nvSpPr>
        <p:spPr>
          <a:xfrm>
            <a:off x="4399280" y="4213350"/>
            <a:ext cx="533400" cy="177800"/>
          </a:xfrm>
          <a:prstGeom prst="rect">
            <a:avLst/>
          </a:prstGeom>
          <a:noFill/>
        </p:spPr>
        <p:txBody>
          <a:bodyPr wrap="square">
            <a:spAutoFit/>
          </a:bodyPr>
          <a:lstStyle/>
          <a:p>
            <a:pPr algn="ctr"/>
            <a:r>
              <a:rPr sz="800" b="0">
                <a:solidFill>
                  <a:srgbClr val="99928D"/>
                </a:solidFill>
                <a:latin typeface="Helvetica Neue"/>
              </a:rPr>
              <a:t>2位</a:t>
            </a:r>
          </a:p>
        </p:txBody>
      </p:sp>
      <p:sp>
        <p:nvSpPr>
          <p:cNvPr id="34" name="TextBox 33"/>
          <p:cNvSpPr txBox="1"/>
          <p:nvPr/>
        </p:nvSpPr>
        <p:spPr>
          <a:xfrm>
            <a:off x="3510280" y="4467350"/>
            <a:ext cx="2375408" cy="279400"/>
          </a:xfrm>
          <a:prstGeom prst="rect">
            <a:avLst/>
          </a:prstGeom>
          <a:noFill/>
        </p:spPr>
        <p:txBody>
          <a:bodyPr wrap="square">
            <a:spAutoFit/>
          </a:bodyPr>
          <a:lstStyle/>
          <a:p>
            <a:pPr algn="ctr"/>
            <a:r>
              <a:rPr sz="1200" b="0">
                <a:solidFill>
                  <a:srgbClr val="554A45"/>
                </a:solidFill>
                <a:latin typeface="Helvetica Neue"/>
              </a:rPr>
              <a:t>差 −63票</a:t>
            </a:r>
          </a:p>
        </p:txBody>
      </p:sp>
      <p:sp>
        <p:nvSpPr>
          <p:cNvPr id="35" name="TextBox 34"/>
          <p:cNvSpPr txBox="1"/>
          <p:nvPr/>
        </p:nvSpPr>
        <p:spPr>
          <a:xfrm>
            <a:off x="3510280" y="4772150"/>
            <a:ext cx="2375408" cy="660400"/>
          </a:xfrm>
          <a:prstGeom prst="rect">
            <a:avLst/>
          </a:prstGeom>
          <a:noFill/>
        </p:spPr>
        <p:txBody>
          <a:bodyPr wrap="square">
            <a:spAutoFit/>
          </a:bodyPr>
          <a:lstStyle/>
          <a:p>
            <a:pPr algn="l"/>
            <a:r>
              <a:rPr sz="1000" b="0">
                <a:solidFill>
                  <a:srgbClr val="554A45"/>
                </a:solidFill>
                <a:latin typeface="Hiragino Kaku Gothic ProN"/>
              </a:rPr>
              <a:t>信頼の裏付けとして機能する軸。
最初の一押しにはなりにくい。</a:t>
            </a:r>
          </a:p>
        </p:txBody>
      </p:sp>
      <p:sp>
        <p:nvSpPr>
          <p:cNvPr id="36" name="Rectangle 35"/>
          <p:cNvSpPr/>
          <p:nvPr/>
        </p:nvSpPr>
        <p:spPr>
          <a:xfrm>
            <a:off x="6144768" y="1874519"/>
            <a:ext cx="2578608" cy="3931920"/>
          </a:xfrm>
          <a:prstGeom prst="rect">
            <a:avLst/>
          </a:prstGeom>
          <a:solidFill>
            <a:srgbClr val="FFFFFF"/>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71768" y="2001519"/>
            <a:ext cx="2324608" cy="254000"/>
          </a:xfrm>
          <a:prstGeom prst="rect">
            <a:avLst/>
          </a:prstGeom>
          <a:solidFill>
            <a:srgbClr val="EE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22568" y="2014219"/>
            <a:ext cx="2273808" cy="254000"/>
          </a:xfrm>
          <a:prstGeom prst="rect">
            <a:avLst/>
          </a:prstGeom>
          <a:noFill/>
        </p:spPr>
        <p:txBody>
          <a:bodyPr wrap="square">
            <a:spAutoFit/>
          </a:bodyPr>
          <a:lstStyle/>
          <a:p>
            <a:pPr algn="l"/>
            <a:r>
              <a:rPr sz="850" b="0">
                <a:solidFill>
                  <a:srgbClr val="99928D"/>
                </a:solidFill>
                <a:latin typeface="Helvetica Neue"/>
              </a:rPr>
              <a:t>じわじわ型 / 物語・感動</a:t>
            </a:r>
          </a:p>
        </p:txBody>
      </p:sp>
      <p:sp>
        <p:nvSpPr>
          <p:cNvPr id="39" name="TextBox 38"/>
          <p:cNvSpPr txBox="1"/>
          <p:nvPr/>
        </p:nvSpPr>
        <p:spPr>
          <a:xfrm>
            <a:off x="6271768" y="2331719"/>
            <a:ext cx="2375408" cy="355600"/>
          </a:xfrm>
          <a:prstGeom prst="rect">
            <a:avLst/>
          </a:prstGeom>
          <a:noFill/>
        </p:spPr>
        <p:txBody>
          <a:bodyPr wrap="square">
            <a:spAutoFit/>
          </a:bodyPr>
          <a:lstStyle/>
          <a:p>
            <a:pPr algn="l"/>
            <a:r>
              <a:rPr sz="1600" b="0">
                <a:solidFill>
                  <a:srgbClr val="2A221E"/>
                </a:solidFill>
                <a:latin typeface="Hiragino Kaku Gothic ProN"/>
              </a:rPr>
              <a:t>復活の物語</a:t>
            </a:r>
          </a:p>
        </p:txBody>
      </p:sp>
      <p:sp>
        <p:nvSpPr>
          <p:cNvPr id="40" name="Rectangle 39"/>
          <p:cNvSpPr/>
          <p:nvPr/>
        </p:nvSpPr>
        <p:spPr>
          <a:xfrm>
            <a:off x="6271768" y="2700019"/>
            <a:ext cx="2324608"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449568" y="3694897"/>
            <a:ext cx="533400" cy="264452"/>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160768" y="3615956"/>
            <a:ext cx="533400" cy="343393"/>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9568" y="3997450"/>
            <a:ext cx="533400" cy="279400"/>
          </a:xfrm>
          <a:prstGeom prst="rect">
            <a:avLst/>
          </a:prstGeom>
          <a:noFill/>
        </p:spPr>
        <p:txBody>
          <a:bodyPr wrap="square">
            <a:spAutoFit/>
          </a:bodyPr>
          <a:lstStyle/>
          <a:p>
            <a:pPr algn="ctr"/>
            <a:r>
              <a:rPr sz="1400" b="1">
                <a:solidFill>
                  <a:srgbClr val="2A221E"/>
                </a:solidFill>
                <a:latin typeface="Helvetica Neue"/>
              </a:rPr>
              <a:t>67</a:t>
            </a:r>
          </a:p>
        </p:txBody>
      </p:sp>
      <p:sp>
        <p:nvSpPr>
          <p:cNvPr id="44" name="TextBox 43"/>
          <p:cNvSpPr txBox="1"/>
          <p:nvPr/>
        </p:nvSpPr>
        <p:spPr>
          <a:xfrm>
            <a:off x="6449568" y="4213350"/>
            <a:ext cx="533400" cy="177800"/>
          </a:xfrm>
          <a:prstGeom prst="rect">
            <a:avLst/>
          </a:prstGeom>
          <a:noFill/>
        </p:spPr>
        <p:txBody>
          <a:bodyPr wrap="square">
            <a:spAutoFit/>
          </a:bodyPr>
          <a:lstStyle/>
          <a:p>
            <a:pPr algn="ctr"/>
            <a:r>
              <a:rPr sz="800" b="0">
                <a:solidFill>
                  <a:srgbClr val="99928D"/>
                </a:solidFill>
                <a:latin typeface="Helvetica Neue"/>
              </a:rPr>
              <a:t>1位</a:t>
            </a:r>
          </a:p>
        </p:txBody>
      </p:sp>
      <p:sp>
        <p:nvSpPr>
          <p:cNvPr id="45" name="TextBox 44"/>
          <p:cNvSpPr txBox="1"/>
          <p:nvPr/>
        </p:nvSpPr>
        <p:spPr>
          <a:xfrm>
            <a:off x="7160768" y="3997450"/>
            <a:ext cx="533400" cy="279400"/>
          </a:xfrm>
          <a:prstGeom prst="rect">
            <a:avLst/>
          </a:prstGeom>
          <a:noFill/>
        </p:spPr>
        <p:txBody>
          <a:bodyPr wrap="square">
            <a:spAutoFit/>
          </a:bodyPr>
          <a:lstStyle/>
          <a:p>
            <a:pPr algn="ctr"/>
            <a:r>
              <a:rPr sz="1400" b="0">
                <a:solidFill>
                  <a:srgbClr val="554A45"/>
                </a:solidFill>
                <a:latin typeface="Helvetica Neue"/>
              </a:rPr>
              <a:t>87</a:t>
            </a:r>
          </a:p>
        </p:txBody>
      </p:sp>
      <p:sp>
        <p:nvSpPr>
          <p:cNvPr id="46" name="TextBox 45"/>
          <p:cNvSpPr txBox="1"/>
          <p:nvPr/>
        </p:nvSpPr>
        <p:spPr>
          <a:xfrm>
            <a:off x="7160768" y="4213350"/>
            <a:ext cx="533400" cy="177800"/>
          </a:xfrm>
          <a:prstGeom prst="rect">
            <a:avLst/>
          </a:prstGeom>
          <a:noFill/>
        </p:spPr>
        <p:txBody>
          <a:bodyPr wrap="square">
            <a:spAutoFit/>
          </a:bodyPr>
          <a:lstStyle/>
          <a:p>
            <a:pPr algn="ctr"/>
            <a:r>
              <a:rPr sz="800" b="0">
                <a:solidFill>
                  <a:srgbClr val="99928D"/>
                </a:solidFill>
                <a:latin typeface="Helvetica Neue"/>
              </a:rPr>
              <a:t>2位</a:t>
            </a:r>
          </a:p>
        </p:txBody>
      </p:sp>
      <p:sp>
        <p:nvSpPr>
          <p:cNvPr id="47" name="TextBox 46"/>
          <p:cNvSpPr txBox="1"/>
          <p:nvPr/>
        </p:nvSpPr>
        <p:spPr>
          <a:xfrm>
            <a:off x="6271768" y="4467350"/>
            <a:ext cx="2375408" cy="279400"/>
          </a:xfrm>
          <a:prstGeom prst="rect">
            <a:avLst/>
          </a:prstGeom>
          <a:noFill/>
        </p:spPr>
        <p:txBody>
          <a:bodyPr wrap="square">
            <a:spAutoFit/>
          </a:bodyPr>
          <a:lstStyle/>
          <a:p>
            <a:pPr algn="ctr"/>
            <a:r>
              <a:rPr sz="1200" b="0">
                <a:solidFill>
                  <a:srgbClr val="554A45"/>
                </a:solidFill>
                <a:latin typeface="Helvetica Neue"/>
              </a:rPr>
              <a:t>差 −20票</a:t>
            </a:r>
          </a:p>
        </p:txBody>
      </p:sp>
      <p:sp>
        <p:nvSpPr>
          <p:cNvPr id="48" name="TextBox 47"/>
          <p:cNvSpPr txBox="1"/>
          <p:nvPr/>
        </p:nvSpPr>
        <p:spPr>
          <a:xfrm>
            <a:off x="6271768" y="4772150"/>
            <a:ext cx="2375408" cy="660400"/>
          </a:xfrm>
          <a:prstGeom prst="rect">
            <a:avLst/>
          </a:prstGeom>
          <a:noFill/>
        </p:spPr>
        <p:txBody>
          <a:bodyPr wrap="square">
            <a:spAutoFit/>
          </a:bodyPr>
          <a:lstStyle/>
          <a:p>
            <a:pPr algn="l"/>
            <a:r>
              <a:rPr sz="1000" b="0">
                <a:solidFill>
                  <a:srgbClr val="554A45"/>
                </a:solidFill>
                <a:latin typeface="Hiragino Kaku Gothic ProN"/>
              </a:rPr>
              <a:t>SNSや記事コンテンツで
読むほど評価が上がる。</a:t>
            </a:r>
          </a:p>
        </p:txBody>
      </p:sp>
      <p:sp>
        <p:nvSpPr>
          <p:cNvPr id="49" name="Rectangle 48"/>
          <p:cNvSpPr/>
          <p:nvPr/>
        </p:nvSpPr>
        <p:spPr>
          <a:xfrm>
            <a:off x="8906256" y="1874519"/>
            <a:ext cx="2578608" cy="3931920"/>
          </a:xfrm>
          <a:prstGeom prst="rect">
            <a:avLst/>
          </a:prstGeom>
          <a:solidFill>
            <a:srgbClr val="FFFFFF"/>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33256" y="2001519"/>
            <a:ext cx="2324608" cy="254000"/>
          </a:xfrm>
          <a:prstGeom prst="rect">
            <a:avLst/>
          </a:prstGeom>
          <a:solidFill>
            <a:srgbClr val="EEE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084056" y="2014219"/>
            <a:ext cx="2273808" cy="254000"/>
          </a:xfrm>
          <a:prstGeom prst="rect">
            <a:avLst/>
          </a:prstGeom>
          <a:noFill/>
        </p:spPr>
        <p:txBody>
          <a:bodyPr wrap="square">
            <a:spAutoFit/>
          </a:bodyPr>
          <a:lstStyle/>
          <a:p>
            <a:pPr algn="l"/>
            <a:r>
              <a:rPr sz="850" b="0">
                <a:solidFill>
                  <a:srgbClr val="99928D"/>
                </a:solidFill>
                <a:latin typeface="Helvetica Neue"/>
              </a:rPr>
              <a:t>じわじわ型 / 日常使い</a:t>
            </a:r>
          </a:p>
        </p:txBody>
      </p:sp>
      <p:sp>
        <p:nvSpPr>
          <p:cNvPr id="52" name="TextBox 51"/>
          <p:cNvSpPr txBox="1"/>
          <p:nvPr/>
        </p:nvSpPr>
        <p:spPr>
          <a:xfrm>
            <a:off x="9033256" y="2331719"/>
            <a:ext cx="2375408" cy="355600"/>
          </a:xfrm>
          <a:prstGeom prst="rect">
            <a:avLst/>
          </a:prstGeom>
          <a:noFill/>
        </p:spPr>
        <p:txBody>
          <a:bodyPr wrap="square">
            <a:spAutoFit/>
          </a:bodyPr>
          <a:lstStyle/>
          <a:p>
            <a:pPr algn="l"/>
            <a:r>
              <a:rPr sz="1600" b="0">
                <a:solidFill>
                  <a:srgbClr val="2A221E"/>
                </a:solidFill>
                <a:latin typeface="Hiragino Kaku Gothic ProN"/>
              </a:rPr>
              <a:t>究極の脇役</a:t>
            </a:r>
          </a:p>
        </p:txBody>
      </p:sp>
      <p:sp>
        <p:nvSpPr>
          <p:cNvPr id="53" name="Rectangle 52"/>
          <p:cNvSpPr/>
          <p:nvPr/>
        </p:nvSpPr>
        <p:spPr>
          <a:xfrm>
            <a:off x="9033256" y="2700019"/>
            <a:ext cx="2324608" cy="635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211056" y="3777785"/>
            <a:ext cx="533400" cy="181564"/>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9922256" y="3596221"/>
            <a:ext cx="533400" cy="363128"/>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211056" y="3997450"/>
            <a:ext cx="533400" cy="279400"/>
          </a:xfrm>
          <a:prstGeom prst="rect">
            <a:avLst/>
          </a:prstGeom>
          <a:noFill/>
        </p:spPr>
        <p:txBody>
          <a:bodyPr wrap="square">
            <a:spAutoFit/>
          </a:bodyPr>
          <a:lstStyle/>
          <a:p>
            <a:pPr algn="ctr"/>
            <a:r>
              <a:rPr sz="1400" b="1">
                <a:solidFill>
                  <a:srgbClr val="2A221E"/>
                </a:solidFill>
                <a:latin typeface="Helvetica Neue"/>
              </a:rPr>
              <a:t>46</a:t>
            </a:r>
          </a:p>
        </p:txBody>
      </p:sp>
      <p:sp>
        <p:nvSpPr>
          <p:cNvPr id="57" name="TextBox 56"/>
          <p:cNvSpPr txBox="1"/>
          <p:nvPr/>
        </p:nvSpPr>
        <p:spPr>
          <a:xfrm>
            <a:off x="9211056" y="4213350"/>
            <a:ext cx="533400" cy="177800"/>
          </a:xfrm>
          <a:prstGeom prst="rect">
            <a:avLst/>
          </a:prstGeom>
          <a:noFill/>
        </p:spPr>
        <p:txBody>
          <a:bodyPr wrap="square">
            <a:spAutoFit/>
          </a:bodyPr>
          <a:lstStyle/>
          <a:p>
            <a:pPr algn="ctr"/>
            <a:r>
              <a:rPr sz="800" b="0">
                <a:solidFill>
                  <a:srgbClr val="99928D"/>
                </a:solidFill>
                <a:latin typeface="Helvetica Neue"/>
              </a:rPr>
              <a:t>1位</a:t>
            </a:r>
          </a:p>
        </p:txBody>
      </p:sp>
      <p:sp>
        <p:nvSpPr>
          <p:cNvPr id="58" name="TextBox 57"/>
          <p:cNvSpPr txBox="1"/>
          <p:nvPr/>
        </p:nvSpPr>
        <p:spPr>
          <a:xfrm>
            <a:off x="9922256" y="3997450"/>
            <a:ext cx="533400" cy="279400"/>
          </a:xfrm>
          <a:prstGeom prst="rect">
            <a:avLst/>
          </a:prstGeom>
          <a:noFill/>
        </p:spPr>
        <p:txBody>
          <a:bodyPr wrap="square">
            <a:spAutoFit/>
          </a:bodyPr>
          <a:lstStyle/>
          <a:p>
            <a:pPr algn="ctr"/>
            <a:r>
              <a:rPr sz="1400" b="0">
                <a:solidFill>
                  <a:srgbClr val="554A45"/>
                </a:solidFill>
                <a:latin typeface="Helvetica Neue"/>
              </a:rPr>
              <a:t>92</a:t>
            </a:r>
          </a:p>
        </p:txBody>
      </p:sp>
      <p:sp>
        <p:nvSpPr>
          <p:cNvPr id="59" name="TextBox 58"/>
          <p:cNvSpPr txBox="1"/>
          <p:nvPr/>
        </p:nvSpPr>
        <p:spPr>
          <a:xfrm>
            <a:off x="9922256" y="4213350"/>
            <a:ext cx="533400" cy="177800"/>
          </a:xfrm>
          <a:prstGeom prst="rect">
            <a:avLst/>
          </a:prstGeom>
          <a:noFill/>
        </p:spPr>
        <p:txBody>
          <a:bodyPr wrap="square">
            <a:spAutoFit/>
          </a:bodyPr>
          <a:lstStyle/>
          <a:p>
            <a:pPr algn="ctr"/>
            <a:r>
              <a:rPr sz="800" b="0">
                <a:solidFill>
                  <a:srgbClr val="99928D"/>
                </a:solidFill>
                <a:latin typeface="Helvetica Neue"/>
              </a:rPr>
              <a:t>2位</a:t>
            </a:r>
          </a:p>
        </p:txBody>
      </p:sp>
      <p:sp>
        <p:nvSpPr>
          <p:cNvPr id="60" name="TextBox 59"/>
          <p:cNvSpPr txBox="1"/>
          <p:nvPr/>
        </p:nvSpPr>
        <p:spPr>
          <a:xfrm>
            <a:off x="9033256" y="4467350"/>
            <a:ext cx="2375408" cy="279400"/>
          </a:xfrm>
          <a:prstGeom prst="rect">
            <a:avLst/>
          </a:prstGeom>
          <a:noFill/>
        </p:spPr>
        <p:txBody>
          <a:bodyPr wrap="square">
            <a:spAutoFit/>
          </a:bodyPr>
          <a:lstStyle/>
          <a:p>
            <a:pPr algn="ctr"/>
            <a:r>
              <a:rPr sz="1200" b="0">
                <a:solidFill>
                  <a:srgbClr val="554A45"/>
                </a:solidFill>
                <a:latin typeface="Helvetica Neue"/>
              </a:rPr>
              <a:t>差 −46票</a:t>
            </a:r>
          </a:p>
        </p:txBody>
      </p:sp>
      <p:sp>
        <p:nvSpPr>
          <p:cNvPr id="61" name="TextBox 60"/>
          <p:cNvSpPr txBox="1"/>
          <p:nvPr/>
        </p:nvSpPr>
        <p:spPr>
          <a:xfrm>
            <a:off x="9033256" y="4772150"/>
            <a:ext cx="2375408" cy="660400"/>
          </a:xfrm>
          <a:prstGeom prst="rect">
            <a:avLst/>
          </a:prstGeom>
          <a:noFill/>
        </p:spPr>
        <p:txBody>
          <a:bodyPr wrap="square">
            <a:spAutoFit/>
          </a:bodyPr>
          <a:lstStyle/>
          <a:p>
            <a:pPr algn="l"/>
            <a:r>
              <a:rPr sz="1000" b="0">
                <a:solidFill>
                  <a:srgbClr val="554A45"/>
                </a:solidFill>
                <a:latin typeface="Hiragino Kaku Gothic ProN"/>
              </a:rPr>
              <a:t>料理写真との組み合わせで刺さる。
リピート購入に強い。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201168"/>
            <a:ext cx="11786616" cy="64556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01168"/>
            <a:ext cx="11786616" cy="6455664"/>
          </a:xfrm>
          <a:prstGeom prst="rect">
            <a:avLst/>
          </a:prstGeom>
          <a:noFill/>
          <a:ln w="9525">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7472" y="274320"/>
            <a:ext cx="635000" cy="2794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9072" y="312420"/>
            <a:ext cx="635000" cy="279400"/>
          </a:xfrm>
          <a:prstGeom prst="rect">
            <a:avLst/>
          </a:prstGeom>
          <a:noFill/>
        </p:spPr>
        <p:txBody>
          <a:bodyPr wrap="square">
            <a:spAutoFit/>
          </a:bodyPr>
          <a:lstStyle/>
          <a:p>
            <a:pPr algn="l"/>
            <a:r>
              <a:rPr sz="850" b="1">
                <a:solidFill>
                  <a:srgbClr val="FFFFFF"/>
                </a:solidFill>
                <a:latin typeface="Helvetica Neue"/>
              </a:rPr>
              <a:t>定性分析</a:t>
            </a:r>
          </a:p>
        </p:txBody>
      </p:sp>
      <p:sp>
        <p:nvSpPr>
          <p:cNvPr id="7" name="TextBox 6"/>
          <p:cNvSpPr txBox="1"/>
          <p:nvPr/>
        </p:nvSpPr>
        <p:spPr>
          <a:xfrm>
            <a:off x="640080" y="777240"/>
            <a:ext cx="7315200" cy="658368"/>
          </a:xfrm>
          <a:prstGeom prst="rect">
            <a:avLst/>
          </a:prstGeom>
          <a:noFill/>
        </p:spPr>
        <p:txBody>
          <a:bodyPr wrap="square">
            <a:spAutoFit/>
          </a:bodyPr>
          <a:lstStyle/>
          <a:p>
            <a:pPr algn="l"/>
            <a:r>
              <a:rPr sz="2800" b="1">
                <a:solidFill>
                  <a:srgbClr val="2A221E"/>
                </a:solidFill>
                <a:latin typeface="Hiragino Kaku Gothic ProN"/>
              </a:rPr>
              <a:t>核心を突くコメント 5選</a:t>
            </a:r>
          </a:p>
        </p:txBody>
      </p:sp>
      <p:sp>
        <p:nvSpPr>
          <p:cNvPr id="8" name="TextBox 7"/>
          <p:cNvSpPr txBox="1"/>
          <p:nvPr/>
        </p:nvSpPr>
        <p:spPr>
          <a:xfrm>
            <a:off x="640080" y="1389888"/>
            <a:ext cx="10972800" cy="347472"/>
          </a:xfrm>
          <a:prstGeom prst="rect">
            <a:avLst/>
          </a:prstGeom>
          <a:noFill/>
        </p:spPr>
        <p:txBody>
          <a:bodyPr wrap="square">
            <a:spAutoFit/>
          </a:bodyPr>
          <a:lstStyle/>
          <a:p>
            <a:pPr algn="l"/>
            <a:r>
              <a:rPr sz="1100" b="0">
                <a:solidFill>
                  <a:srgbClr val="554A45"/>
                </a:solidFill>
                <a:latin typeface="Hiragino Kaku Gothic ProN"/>
              </a:rPr>
              <a:t>そのままキャッチコピーやコンセプトに転用できる、熱量の高い生の声。</a:t>
            </a:r>
          </a:p>
        </p:txBody>
      </p:sp>
      <p:sp>
        <p:nvSpPr>
          <p:cNvPr id="9" name="Rectangle 8"/>
          <p:cNvSpPr/>
          <p:nvPr/>
        </p:nvSpPr>
        <p:spPr>
          <a:xfrm>
            <a:off x="640080" y="1719072"/>
            <a:ext cx="10881360" cy="101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901952"/>
            <a:ext cx="3584448" cy="2148840"/>
          </a:xfrm>
          <a:prstGeom prst="rect">
            <a:avLst/>
          </a:prstGeom>
          <a:solidFill>
            <a:srgbClr val="F8F7F5"/>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901952"/>
            <a:ext cx="38100" cy="214884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79368" y="2003552"/>
            <a:ext cx="457200" cy="482600"/>
          </a:xfrm>
          <a:prstGeom prst="rect">
            <a:avLst/>
          </a:prstGeom>
          <a:noFill/>
        </p:spPr>
        <p:txBody>
          <a:bodyPr wrap="square">
            <a:spAutoFit/>
          </a:bodyPr>
          <a:lstStyle/>
          <a:p>
            <a:pPr algn="l"/>
            <a:r>
              <a:rPr sz="2200" b="1">
                <a:solidFill>
                  <a:srgbClr val="CCC8C4"/>
                </a:solidFill>
                <a:latin typeface="Helvetica Neue"/>
              </a:rPr>
              <a:t>01</a:t>
            </a:r>
          </a:p>
        </p:txBody>
      </p:sp>
      <p:sp>
        <p:nvSpPr>
          <p:cNvPr id="13" name="TextBox 12"/>
          <p:cNvSpPr txBox="1"/>
          <p:nvPr/>
        </p:nvSpPr>
        <p:spPr>
          <a:xfrm>
            <a:off x="655320" y="2028952"/>
            <a:ext cx="2885948" cy="254000"/>
          </a:xfrm>
          <a:prstGeom prst="rect">
            <a:avLst/>
          </a:prstGeom>
          <a:noFill/>
        </p:spPr>
        <p:txBody>
          <a:bodyPr wrap="square">
            <a:spAutoFit/>
          </a:bodyPr>
          <a:lstStyle/>
          <a:p>
            <a:pPr algn="l"/>
            <a:r>
              <a:rPr sz="850" b="0">
                <a:solidFill>
                  <a:srgbClr val="B89640"/>
                </a:solidFill>
                <a:latin typeface="Helvetica Neue"/>
              </a:rPr>
              <a:t>幻の米 ／ 希少性</a:t>
            </a:r>
          </a:p>
        </p:txBody>
      </p:sp>
      <p:sp>
        <p:nvSpPr>
          <p:cNvPr id="14" name="TextBox 13"/>
          <p:cNvSpPr txBox="1"/>
          <p:nvPr/>
        </p:nvSpPr>
        <p:spPr>
          <a:xfrm>
            <a:off x="655320" y="2308352"/>
            <a:ext cx="3355848" cy="1270000"/>
          </a:xfrm>
          <a:prstGeom prst="rect">
            <a:avLst/>
          </a:prstGeom>
          <a:noFill/>
        </p:spPr>
        <p:txBody>
          <a:bodyPr wrap="square">
            <a:spAutoFit/>
          </a:bodyPr>
          <a:lstStyle/>
          <a:p>
            <a:pPr algn="l"/>
            <a:r>
              <a:rPr sz="1050" b="0">
                <a:solidFill>
                  <a:srgbClr val="2A221E"/>
                </a:solidFill>
                <a:latin typeface="Hiragino Kaku Gothic ProN"/>
              </a:rPr>
              <a:t>「日本で唯一というパワーワードに惹かれたから。唯一や限定など、希少価値が高いことを表す言葉を使用されていると飲んでみたいと感じた。」</a:t>
            </a:r>
          </a:p>
        </p:txBody>
      </p:sp>
      <p:sp>
        <p:nvSpPr>
          <p:cNvPr id="15" name="TextBox 14"/>
          <p:cNvSpPr txBox="1"/>
          <p:nvPr/>
        </p:nvSpPr>
        <p:spPr>
          <a:xfrm>
            <a:off x="655320" y="3771392"/>
            <a:ext cx="3355848" cy="228600"/>
          </a:xfrm>
          <a:prstGeom prst="rect">
            <a:avLst/>
          </a:prstGeom>
          <a:noFill/>
        </p:spPr>
        <p:txBody>
          <a:bodyPr wrap="square">
            <a:spAutoFit/>
          </a:bodyPr>
          <a:lstStyle/>
          <a:p>
            <a:pPr algn="l"/>
            <a:r>
              <a:rPr sz="900" b="0">
                <a:solidFill>
                  <a:srgbClr val="99928D"/>
                </a:solidFill>
                <a:latin typeface="Helvetica Neue"/>
              </a:rPr>
              <a:t>女性・20〜30代</a:t>
            </a:r>
          </a:p>
        </p:txBody>
      </p:sp>
      <p:sp>
        <p:nvSpPr>
          <p:cNvPr id="16" name="Rectangle 15"/>
          <p:cNvSpPr/>
          <p:nvPr/>
        </p:nvSpPr>
        <p:spPr>
          <a:xfrm>
            <a:off x="4297680" y="1901952"/>
            <a:ext cx="3584448" cy="2148840"/>
          </a:xfrm>
          <a:prstGeom prst="rect">
            <a:avLst/>
          </a:prstGeom>
          <a:solidFill>
            <a:srgbClr val="FFFFFF"/>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97680" y="1901952"/>
            <a:ext cx="38100" cy="214884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74128" y="2003552"/>
            <a:ext cx="457200" cy="482600"/>
          </a:xfrm>
          <a:prstGeom prst="rect">
            <a:avLst/>
          </a:prstGeom>
          <a:noFill/>
        </p:spPr>
        <p:txBody>
          <a:bodyPr wrap="square">
            <a:spAutoFit/>
          </a:bodyPr>
          <a:lstStyle/>
          <a:p>
            <a:pPr algn="l"/>
            <a:r>
              <a:rPr sz="2200" b="1">
                <a:solidFill>
                  <a:srgbClr val="CCC8C4"/>
                </a:solidFill>
                <a:latin typeface="Helvetica Neue"/>
              </a:rPr>
              <a:t>02</a:t>
            </a:r>
          </a:p>
        </p:txBody>
      </p:sp>
      <p:sp>
        <p:nvSpPr>
          <p:cNvPr id="19" name="TextBox 18"/>
          <p:cNvSpPr txBox="1"/>
          <p:nvPr/>
        </p:nvSpPr>
        <p:spPr>
          <a:xfrm>
            <a:off x="4450080" y="2028952"/>
            <a:ext cx="2885948" cy="254000"/>
          </a:xfrm>
          <a:prstGeom prst="rect">
            <a:avLst/>
          </a:prstGeom>
          <a:noFill/>
        </p:spPr>
        <p:txBody>
          <a:bodyPr wrap="square">
            <a:spAutoFit/>
          </a:bodyPr>
          <a:lstStyle/>
          <a:p>
            <a:pPr algn="l"/>
            <a:r>
              <a:rPr sz="850" b="0">
                <a:solidFill>
                  <a:srgbClr val="B89640"/>
                </a:solidFill>
                <a:latin typeface="Helvetica Neue"/>
              </a:rPr>
              <a:t>復活の物語 ／ 物語性</a:t>
            </a:r>
          </a:p>
        </p:txBody>
      </p:sp>
      <p:sp>
        <p:nvSpPr>
          <p:cNvPr id="20" name="TextBox 19"/>
          <p:cNvSpPr txBox="1"/>
          <p:nvPr/>
        </p:nvSpPr>
        <p:spPr>
          <a:xfrm>
            <a:off x="4450080" y="2308352"/>
            <a:ext cx="3355848" cy="1270000"/>
          </a:xfrm>
          <a:prstGeom prst="rect">
            <a:avLst/>
          </a:prstGeom>
          <a:noFill/>
        </p:spPr>
        <p:txBody>
          <a:bodyPr wrap="square">
            <a:spAutoFit/>
          </a:bodyPr>
          <a:lstStyle/>
          <a:p>
            <a:pPr algn="l"/>
            <a:r>
              <a:rPr sz="1050" b="0">
                <a:solidFill>
                  <a:srgbClr val="2A221E"/>
                </a:solidFill>
                <a:latin typeface="Hiragino Kaku Gothic ProN"/>
              </a:rPr>
              <a:t>「20年の沈黙を破って家族で再起した。味だけじゃなくて『続けること』『守ること』の重みが入っていそうで、飲む時間が特別になりそう。」</a:t>
            </a:r>
          </a:p>
        </p:txBody>
      </p:sp>
      <p:sp>
        <p:nvSpPr>
          <p:cNvPr id="21" name="TextBox 20"/>
          <p:cNvSpPr txBox="1"/>
          <p:nvPr/>
        </p:nvSpPr>
        <p:spPr>
          <a:xfrm>
            <a:off x="4450080" y="3771392"/>
            <a:ext cx="3355848" cy="228600"/>
          </a:xfrm>
          <a:prstGeom prst="rect">
            <a:avLst/>
          </a:prstGeom>
          <a:noFill/>
        </p:spPr>
        <p:txBody>
          <a:bodyPr wrap="square">
            <a:spAutoFit/>
          </a:bodyPr>
          <a:lstStyle/>
          <a:p>
            <a:pPr algn="l"/>
            <a:r>
              <a:rPr sz="900" b="0">
                <a:solidFill>
                  <a:srgbClr val="99928D"/>
                </a:solidFill>
                <a:latin typeface="Helvetica Neue"/>
              </a:rPr>
              <a:t>女性・30〜40代</a:t>
            </a:r>
          </a:p>
        </p:txBody>
      </p:sp>
      <p:sp>
        <p:nvSpPr>
          <p:cNvPr id="22" name="Rectangle 21"/>
          <p:cNvSpPr/>
          <p:nvPr/>
        </p:nvSpPr>
        <p:spPr>
          <a:xfrm>
            <a:off x="8092440" y="1901952"/>
            <a:ext cx="3584448" cy="2148840"/>
          </a:xfrm>
          <a:prstGeom prst="rect">
            <a:avLst/>
          </a:prstGeom>
          <a:solidFill>
            <a:srgbClr val="F8F7F5"/>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92440" y="1901952"/>
            <a:ext cx="38100" cy="214884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68888" y="2003552"/>
            <a:ext cx="457200" cy="482600"/>
          </a:xfrm>
          <a:prstGeom prst="rect">
            <a:avLst/>
          </a:prstGeom>
          <a:noFill/>
        </p:spPr>
        <p:txBody>
          <a:bodyPr wrap="square">
            <a:spAutoFit/>
          </a:bodyPr>
          <a:lstStyle/>
          <a:p>
            <a:pPr algn="l"/>
            <a:r>
              <a:rPr sz="2200" b="1">
                <a:solidFill>
                  <a:srgbClr val="CCC8C4"/>
                </a:solidFill>
                <a:latin typeface="Helvetica Neue"/>
              </a:rPr>
              <a:t>03</a:t>
            </a:r>
          </a:p>
        </p:txBody>
      </p:sp>
      <p:sp>
        <p:nvSpPr>
          <p:cNvPr id="25" name="TextBox 24"/>
          <p:cNvSpPr txBox="1"/>
          <p:nvPr/>
        </p:nvSpPr>
        <p:spPr>
          <a:xfrm>
            <a:off x="8244840" y="2028952"/>
            <a:ext cx="2885948" cy="254000"/>
          </a:xfrm>
          <a:prstGeom prst="rect">
            <a:avLst/>
          </a:prstGeom>
          <a:noFill/>
        </p:spPr>
        <p:txBody>
          <a:bodyPr wrap="square">
            <a:spAutoFit/>
          </a:bodyPr>
          <a:lstStyle/>
          <a:p>
            <a:pPr algn="l"/>
            <a:r>
              <a:rPr sz="850" b="0">
                <a:solidFill>
                  <a:srgbClr val="B89640"/>
                </a:solidFill>
                <a:latin typeface="Helvetica Neue"/>
              </a:rPr>
              <a:t>世界の評価 ／ 安心・信頼</a:t>
            </a:r>
          </a:p>
        </p:txBody>
      </p:sp>
      <p:sp>
        <p:nvSpPr>
          <p:cNvPr id="26" name="TextBox 25"/>
          <p:cNvSpPr txBox="1"/>
          <p:nvPr/>
        </p:nvSpPr>
        <p:spPr>
          <a:xfrm>
            <a:off x="8244840" y="2308352"/>
            <a:ext cx="3355848" cy="1270000"/>
          </a:xfrm>
          <a:prstGeom prst="rect">
            <a:avLst/>
          </a:prstGeom>
          <a:noFill/>
        </p:spPr>
        <p:txBody>
          <a:bodyPr wrap="square">
            <a:spAutoFit/>
          </a:bodyPr>
          <a:lstStyle/>
          <a:p>
            <a:pPr algn="l"/>
            <a:r>
              <a:rPr sz="1050" b="0">
                <a:solidFill>
                  <a:srgbClr val="2A221E"/>
                </a:solidFill>
                <a:latin typeface="Hiragino Kaku Gothic ProN"/>
              </a:rPr>
              <a:t>「自分の舌やチョイスに自信がないので、世界の評価という太鼓判があると、安心します。」</a:t>
            </a:r>
          </a:p>
        </p:txBody>
      </p:sp>
      <p:sp>
        <p:nvSpPr>
          <p:cNvPr id="27" name="TextBox 26"/>
          <p:cNvSpPr txBox="1"/>
          <p:nvPr/>
        </p:nvSpPr>
        <p:spPr>
          <a:xfrm>
            <a:off x="8244840" y="3771392"/>
            <a:ext cx="3355848" cy="228600"/>
          </a:xfrm>
          <a:prstGeom prst="rect">
            <a:avLst/>
          </a:prstGeom>
          <a:noFill/>
        </p:spPr>
        <p:txBody>
          <a:bodyPr wrap="square">
            <a:spAutoFit/>
          </a:bodyPr>
          <a:lstStyle/>
          <a:p>
            <a:pPr algn="l"/>
            <a:r>
              <a:rPr sz="900" b="0">
                <a:solidFill>
                  <a:srgbClr val="99928D"/>
                </a:solidFill>
                <a:latin typeface="Helvetica Neue"/>
              </a:rPr>
              <a:t>女性・40〜50代</a:t>
            </a:r>
          </a:p>
        </p:txBody>
      </p:sp>
      <p:sp>
        <p:nvSpPr>
          <p:cNvPr id="28" name="Rectangle 27"/>
          <p:cNvSpPr/>
          <p:nvPr/>
        </p:nvSpPr>
        <p:spPr>
          <a:xfrm>
            <a:off x="502920" y="4187952"/>
            <a:ext cx="3584448" cy="2148840"/>
          </a:xfrm>
          <a:prstGeom prst="rect">
            <a:avLst/>
          </a:prstGeom>
          <a:solidFill>
            <a:srgbClr val="FFFFFF"/>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4187952"/>
            <a:ext cx="38100" cy="214884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79368" y="4289552"/>
            <a:ext cx="457200" cy="482600"/>
          </a:xfrm>
          <a:prstGeom prst="rect">
            <a:avLst/>
          </a:prstGeom>
          <a:noFill/>
        </p:spPr>
        <p:txBody>
          <a:bodyPr wrap="square">
            <a:spAutoFit/>
          </a:bodyPr>
          <a:lstStyle/>
          <a:p>
            <a:pPr algn="l"/>
            <a:r>
              <a:rPr sz="2200" b="1">
                <a:solidFill>
                  <a:srgbClr val="CCC8C4"/>
                </a:solidFill>
                <a:latin typeface="Helvetica Neue"/>
              </a:rPr>
              <a:t>04</a:t>
            </a:r>
          </a:p>
        </p:txBody>
      </p:sp>
      <p:sp>
        <p:nvSpPr>
          <p:cNvPr id="31" name="TextBox 30"/>
          <p:cNvSpPr txBox="1"/>
          <p:nvPr/>
        </p:nvSpPr>
        <p:spPr>
          <a:xfrm>
            <a:off x="655320" y="4314952"/>
            <a:ext cx="2885948" cy="254000"/>
          </a:xfrm>
          <a:prstGeom prst="rect">
            <a:avLst/>
          </a:prstGeom>
          <a:noFill/>
        </p:spPr>
        <p:txBody>
          <a:bodyPr wrap="square">
            <a:spAutoFit/>
          </a:bodyPr>
          <a:lstStyle/>
          <a:p>
            <a:pPr algn="l"/>
            <a:r>
              <a:rPr sz="850" b="0">
                <a:solidFill>
                  <a:srgbClr val="B89640"/>
                </a:solidFill>
                <a:latin typeface="Helvetica Neue"/>
              </a:rPr>
              <a:t>太古の記憶 ／ ロマン</a:t>
            </a:r>
          </a:p>
        </p:txBody>
      </p:sp>
      <p:sp>
        <p:nvSpPr>
          <p:cNvPr id="32" name="TextBox 31"/>
          <p:cNvSpPr txBox="1"/>
          <p:nvPr/>
        </p:nvSpPr>
        <p:spPr>
          <a:xfrm>
            <a:off x="655320" y="4594352"/>
            <a:ext cx="3355848" cy="1270000"/>
          </a:xfrm>
          <a:prstGeom prst="rect">
            <a:avLst/>
          </a:prstGeom>
          <a:noFill/>
        </p:spPr>
        <p:txBody>
          <a:bodyPr wrap="square">
            <a:spAutoFit/>
          </a:bodyPr>
          <a:lstStyle/>
          <a:p>
            <a:pPr algn="l"/>
            <a:r>
              <a:rPr sz="1050" b="0">
                <a:solidFill>
                  <a:srgbClr val="2A221E"/>
                </a:solidFill>
                <a:latin typeface="Hiragino Kaku Gothic ProN"/>
              </a:rPr>
              <a:t>「ただの水ではなく、時間そのものに価値が宿っているように感じられた。」</a:t>
            </a:r>
          </a:p>
        </p:txBody>
      </p:sp>
      <p:sp>
        <p:nvSpPr>
          <p:cNvPr id="33" name="TextBox 32"/>
          <p:cNvSpPr txBox="1"/>
          <p:nvPr/>
        </p:nvSpPr>
        <p:spPr>
          <a:xfrm>
            <a:off x="655320" y="6057392"/>
            <a:ext cx="3355848" cy="228600"/>
          </a:xfrm>
          <a:prstGeom prst="rect">
            <a:avLst/>
          </a:prstGeom>
          <a:noFill/>
        </p:spPr>
        <p:txBody>
          <a:bodyPr wrap="square">
            <a:spAutoFit/>
          </a:bodyPr>
          <a:lstStyle/>
          <a:p>
            <a:pPr algn="l"/>
            <a:r>
              <a:rPr sz="900" b="0">
                <a:solidFill>
                  <a:srgbClr val="99928D"/>
                </a:solidFill>
                <a:latin typeface="Helvetica Neue"/>
              </a:rPr>
              <a:t>女性・30代</a:t>
            </a:r>
          </a:p>
        </p:txBody>
      </p:sp>
      <p:sp>
        <p:nvSpPr>
          <p:cNvPr id="34" name="Rectangle 33"/>
          <p:cNvSpPr/>
          <p:nvPr/>
        </p:nvSpPr>
        <p:spPr>
          <a:xfrm>
            <a:off x="4297680" y="4187952"/>
            <a:ext cx="3584448" cy="2148840"/>
          </a:xfrm>
          <a:prstGeom prst="rect">
            <a:avLst/>
          </a:prstGeom>
          <a:solidFill>
            <a:srgbClr val="F8F7F5"/>
          </a:solidFill>
          <a:ln w="762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297680" y="4187952"/>
            <a:ext cx="38100" cy="214884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74128" y="4289552"/>
            <a:ext cx="457200" cy="482600"/>
          </a:xfrm>
          <a:prstGeom prst="rect">
            <a:avLst/>
          </a:prstGeom>
          <a:noFill/>
        </p:spPr>
        <p:txBody>
          <a:bodyPr wrap="square">
            <a:spAutoFit/>
          </a:bodyPr>
          <a:lstStyle/>
          <a:p>
            <a:pPr algn="l"/>
            <a:r>
              <a:rPr sz="2200" b="1">
                <a:solidFill>
                  <a:srgbClr val="CCC8C4"/>
                </a:solidFill>
                <a:latin typeface="Helvetica Neue"/>
              </a:rPr>
              <a:t>05</a:t>
            </a:r>
          </a:p>
        </p:txBody>
      </p:sp>
      <p:sp>
        <p:nvSpPr>
          <p:cNvPr id="37" name="TextBox 36"/>
          <p:cNvSpPr txBox="1"/>
          <p:nvPr/>
        </p:nvSpPr>
        <p:spPr>
          <a:xfrm>
            <a:off x="4450080" y="4314952"/>
            <a:ext cx="2885948" cy="254000"/>
          </a:xfrm>
          <a:prstGeom prst="rect">
            <a:avLst/>
          </a:prstGeom>
          <a:noFill/>
        </p:spPr>
        <p:txBody>
          <a:bodyPr wrap="square">
            <a:spAutoFit/>
          </a:bodyPr>
          <a:lstStyle/>
          <a:p>
            <a:pPr algn="l"/>
            <a:r>
              <a:rPr sz="850" b="0">
                <a:solidFill>
                  <a:srgbClr val="B89640"/>
                </a:solidFill>
                <a:latin typeface="Helvetica Neue"/>
              </a:rPr>
              <a:t>究極の脇役 ／ 逆張り</a:t>
            </a:r>
          </a:p>
        </p:txBody>
      </p:sp>
      <p:sp>
        <p:nvSpPr>
          <p:cNvPr id="38" name="TextBox 37"/>
          <p:cNvSpPr txBox="1"/>
          <p:nvPr/>
        </p:nvSpPr>
        <p:spPr>
          <a:xfrm>
            <a:off x="4450080" y="4594352"/>
            <a:ext cx="3355848" cy="1270000"/>
          </a:xfrm>
          <a:prstGeom prst="rect">
            <a:avLst/>
          </a:prstGeom>
          <a:noFill/>
        </p:spPr>
        <p:txBody>
          <a:bodyPr wrap="square">
            <a:spAutoFit/>
          </a:bodyPr>
          <a:lstStyle/>
          <a:p>
            <a:pPr algn="l"/>
            <a:r>
              <a:rPr sz="1050" b="0">
                <a:solidFill>
                  <a:srgbClr val="2A221E"/>
                </a:solidFill>
                <a:latin typeface="Hiragino Kaku Gothic ProN"/>
              </a:rPr>
              <a:t>「メインとして推す日本酒は多いけれど、あえて脇役としてアピールするところに興味を惹かれた。」</a:t>
            </a:r>
          </a:p>
        </p:txBody>
      </p:sp>
      <p:sp>
        <p:nvSpPr>
          <p:cNvPr id="39" name="TextBox 38"/>
          <p:cNvSpPr txBox="1"/>
          <p:nvPr/>
        </p:nvSpPr>
        <p:spPr>
          <a:xfrm>
            <a:off x="4450080" y="6057392"/>
            <a:ext cx="3355848" cy="228600"/>
          </a:xfrm>
          <a:prstGeom prst="rect">
            <a:avLst/>
          </a:prstGeom>
          <a:noFill/>
        </p:spPr>
        <p:txBody>
          <a:bodyPr wrap="square">
            <a:spAutoFit/>
          </a:bodyPr>
          <a:lstStyle/>
          <a:p>
            <a:pPr algn="l"/>
            <a:r>
              <a:rPr sz="900" b="0">
                <a:solidFill>
                  <a:srgbClr val="99928D"/>
                </a:solidFill>
                <a:latin typeface="Helvetica Neue"/>
              </a:rPr>
              <a:t>女性・40代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201168"/>
            <a:ext cx="11786616" cy="64556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01168"/>
            <a:ext cx="11786616" cy="6455664"/>
          </a:xfrm>
          <a:prstGeom prst="rect">
            <a:avLst/>
          </a:prstGeom>
          <a:noFill/>
          <a:ln w="9525">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7472" y="274320"/>
            <a:ext cx="635000" cy="27940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9072" y="312420"/>
            <a:ext cx="635000" cy="279400"/>
          </a:xfrm>
          <a:prstGeom prst="rect">
            <a:avLst/>
          </a:prstGeom>
          <a:noFill/>
        </p:spPr>
        <p:txBody>
          <a:bodyPr wrap="square">
            <a:spAutoFit/>
          </a:bodyPr>
          <a:lstStyle/>
          <a:p>
            <a:pPr algn="l"/>
            <a:r>
              <a:rPr sz="850" b="1">
                <a:solidFill>
                  <a:srgbClr val="FFFFFF"/>
                </a:solidFill>
                <a:latin typeface="Helvetica Neue"/>
              </a:rPr>
              <a:t>定性分析</a:t>
            </a:r>
          </a:p>
        </p:txBody>
      </p:sp>
      <p:sp>
        <p:nvSpPr>
          <p:cNvPr id="7" name="TextBox 6"/>
          <p:cNvSpPr txBox="1"/>
          <p:nvPr/>
        </p:nvSpPr>
        <p:spPr>
          <a:xfrm>
            <a:off x="640080" y="777240"/>
            <a:ext cx="5029200" cy="594360"/>
          </a:xfrm>
          <a:prstGeom prst="rect">
            <a:avLst/>
          </a:prstGeom>
          <a:noFill/>
        </p:spPr>
        <p:txBody>
          <a:bodyPr wrap="square">
            <a:spAutoFit/>
          </a:bodyPr>
          <a:lstStyle/>
          <a:p>
            <a:pPr algn="l"/>
            <a:r>
              <a:rPr sz="2400" b="1">
                <a:solidFill>
                  <a:srgbClr val="2A221E"/>
                </a:solidFill>
                <a:latin typeface="Hiragino Kaku Gothic ProN"/>
              </a:rPr>
              <a:t>頻出キーワード</a:t>
            </a:r>
          </a:p>
        </p:txBody>
      </p:sp>
      <p:sp>
        <p:nvSpPr>
          <p:cNvPr id="8" name="Rectangle 7"/>
          <p:cNvSpPr/>
          <p:nvPr/>
        </p:nvSpPr>
        <p:spPr>
          <a:xfrm>
            <a:off x="502920" y="1481328"/>
            <a:ext cx="5394960" cy="822960"/>
          </a:xfrm>
          <a:prstGeom prst="rect">
            <a:avLst/>
          </a:prstGeom>
          <a:solidFill>
            <a:srgbClr val="B89640"/>
          </a:solidFill>
          <a:ln w="635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82928"/>
            <a:ext cx="3474720" cy="330200"/>
          </a:xfrm>
          <a:prstGeom prst="rect">
            <a:avLst/>
          </a:prstGeom>
          <a:noFill/>
        </p:spPr>
        <p:txBody>
          <a:bodyPr wrap="square">
            <a:spAutoFit/>
          </a:bodyPr>
          <a:lstStyle/>
          <a:p>
            <a:pPr algn="l"/>
            <a:r>
              <a:rPr sz="1500" b="1">
                <a:solidFill>
                  <a:srgbClr val="FFFFFF"/>
                </a:solidFill>
                <a:latin typeface="Hiragino Kaku Gothic ProN"/>
              </a:rPr>
              <a:t>唯一・限定</a:t>
            </a:r>
          </a:p>
        </p:txBody>
      </p:sp>
      <p:sp>
        <p:nvSpPr>
          <p:cNvPr id="10" name="TextBox 9"/>
          <p:cNvSpPr txBox="1"/>
          <p:nvPr/>
        </p:nvSpPr>
        <p:spPr>
          <a:xfrm>
            <a:off x="685800" y="1938528"/>
            <a:ext cx="4846320" cy="228600"/>
          </a:xfrm>
          <a:prstGeom prst="rect">
            <a:avLst/>
          </a:prstGeom>
          <a:noFill/>
        </p:spPr>
        <p:txBody>
          <a:bodyPr wrap="square">
            <a:spAutoFit/>
          </a:bodyPr>
          <a:lstStyle/>
          <a:p>
            <a:pPr algn="l"/>
            <a:r>
              <a:rPr sz="900" b="0">
                <a:solidFill>
                  <a:srgbClr val="FFEFCC"/>
                </a:solidFill>
                <a:latin typeface="Helvetica Neue"/>
              </a:rPr>
              <a:t>希少性 / レア感への反応が最多</a:t>
            </a:r>
          </a:p>
        </p:txBody>
      </p:sp>
      <p:sp>
        <p:nvSpPr>
          <p:cNvPr id="11" name="Rectangle 10"/>
          <p:cNvSpPr/>
          <p:nvPr/>
        </p:nvSpPr>
        <p:spPr>
          <a:xfrm>
            <a:off x="502920" y="2377440"/>
            <a:ext cx="5394960" cy="822960"/>
          </a:xfrm>
          <a:prstGeom prst="rect">
            <a:avLst/>
          </a:prstGeom>
          <a:solidFill>
            <a:srgbClr val="FFFFFF"/>
          </a:solidFill>
          <a:ln w="635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377440"/>
            <a:ext cx="38100" cy="8229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2479040"/>
            <a:ext cx="3474720" cy="330200"/>
          </a:xfrm>
          <a:prstGeom prst="rect">
            <a:avLst/>
          </a:prstGeom>
          <a:noFill/>
        </p:spPr>
        <p:txBody>
          <a:bodyPr wrap="square">
            <a:spAutoFit/>
          </a:bodyPr>
          <a:lstStyle/>
          <a:p>
            <a:pPr algn="l"/>
            <a:r>
              <a:rPr sz="1500" b="0">
                <a:solidFill>
                  <a:srgbClr val="2A221E"/>
                </a:solidFill>
                <a:latin typeface="Hiragino Kaku Gothic ProN"/>
              </a:rPr>
              <a:t>物語・ストーリー</a:t>
            </a:r>
          </a:p>
        </p:txBody>
      </p:sp>
      <p:sp>
        <p:nvSpPr>
          <p:cNvPr id="14" name="TextBox 13"/>
          <p:cNvSpPr txBox="1"/>
          <p:nvPr/>
        </p:nvSpPr>
        <p:spPr>
          <a:xfrm>
            <a:off x="713232" y="2834640"/>
            <a:ext cx="4846320" cy="228600"/>
          </a:xfrm>
          <a:prstGeom prst="rect">
            <a:avLst/>
          </a:prstGeom>
          <a:noFill/>
        </p:spPr>
        <p:txBody>
          <a:bodyPr wrap="square">
            <a:spAutoFit/>
          </a:bodyPr>
          <a:lstStyle/>
          <a:p>
            <a:pPr algn="l"/>
            <a:r>
              <a:rPr sz="900" b="0">
                <a:solidFill>
                  <a:srgbClr val="99928D"/>
                </a:solidFill>
                <a:latin typeface="Helvetica Neue"/>
              </a:rPr>
              <a:t>背景・歴史を知りたい欲求</a:t>
            </a:r>
          </a:p>
        </p:txBody>
      </p:sp>
      <p:sp>
        <p:nvSpPr>
          <p:cNvPr id="15" name="Rectangle 14"/>
          <p:cNvSpPr/>
          <p:nvPr/>
        </p:nvSpPr>
        <p:spPr>
          <a:xfrm>
            <a:off x="502920" y="3273552"/>
            <a:ext cx="5394960" cy="822960"/>
          </a:xfrm>
          <a:prstGeom prst="rect">
            <a:avLst/>
          </a:prstGeom>
          <a:solidFill>
            <a:srgbClr val="F8F7F5"/>
          </a:solidFill>
          <a:ln w="635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273552"/>
            <a:ext cx="38100" cy="8229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3375152"/>
            <a:ext cx="3474720" cy="330200"/>
          </a:xfrm>
          <a:prstGeom prst="rect">
            <a:avLst/>
          </a:prstGeom>
          <a:noFill/>
        </p:spPr>
        <p:txBody>
          <a:bodyPr wrap="square">
            <a:spAutoFit/>
          </a:bodyPr>
          <a:lstStyle/>
          <a:p>
            <a:pPr algn="l"/>
            <a:r>
              <a:rPr sz="1500" b="0">
                <a:solidFill>
                  <a:srgbClr val="2A221E"/>
                </a:solidFill>
                <a:latin typeface="Hiragino Kaku Gothic ProN"/>
              </a:rPr>
              <a:t>水・水質</a:t>
            </a:r>
          </a:p>
        </p:txBody>
      </p:sp>
      <p:sp>
        <p:nvSpPr>
          <p:cNvPr id="18" name="TextBox 17"/>
          <p:cNvSpPr txBox="1"/>
          <p:nvPr/>
        </p:nvSpPr>
        <p:spPr>
          <a:xfrm>
            <a:off x="713232" y="3730752"/>
            <a:ext cx="4846320" cy="228600"/>
          </a:xfrm>
          <a:prstGeom prst="rect">
            <a:avLst/>
          </a:prstGeom>
          <a:noFill/>
        </p:spPr>
        <p:txBody>
          <a:bodyPr wrap="square">
            <a:spAutoFit/>
          </a:bodyPr>
          <a:lstStyle/>
          <a:p>
            <a:pPr algn="l"/>
            <a:r>
              <a:rPr sz="900" b="0">
                <a:solidFill>
                  <a:srgbClr val="99928D"/>
                </a:solidFill>
                <a:latin typeface="Helvetica Neue"/>
              </a:rPr>
              <a:t>日本酒の品質軸として認識</a:t>
            </a:r>
          </a:p>
        </p:txBody>
      </p:sp>
      <p:sp>
        <p:nvSpPr>
          <p:cNvPr id="19" name="Rectangle 18"/>
          <p:cNvSpPr/>
          <p:nvPr/>
        </p:nvSpPr>
        <p:spPr>
          <a:xfrm>
            <a:off x="502920" y="4169664"/>
            <a:ext cx="5394960" cy="822960"/>
          </a:xfrm>
          <a:prstGeom prst="rect">
            <a:avLst/>
          </a:prstGeom>
          <a:solidFill>
            <a:srgbClr val="FFFFFF"/>
          </a:solidFill>
          <a:ln w="635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4169664"/>
            <a:ext cx="38100" cy="8229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4271264"/>
            <a:ext cx="3474720" cy="330200"/>
          </a:xfrm>
          <a:prstGeom prst="rect">
            <a:avLst/>
          </a:prstGeom>
          <a:noFill/>
        </p:spPr>
        <p:txBody>
          <a:bodyPr wrap="square">
            <a:spAutoFit/>
          </a:bodyPr>
          <a:lstStyle/>
          <a:p>
            <a:pPr algn="l"/>
            <a:r>
              <a:rPr sz="1500" b="0">
                <a:solidFill>
                  <a:srgbClr val="2A221E"/>
                </a:solidFill>
                <a:latin typeface="Hiragino Kaku Gothic ProN"/>
              </a:rPr>
              <a:t>料理・食事</a:t>
            </a:r>
          </a:p>
        </p:txBody>
      </p:sp>
      <p:sp>
        <p:nvSpPr>
          <p:cNvPr id="22" name="TextBox 21"/>
          <p:cNvSpPr txBox="1"/>
          <p:nvPr/>
        </p:nvSpPr>
        <p:spPr>
          <a:xfrm>
            <a:off x="713232" y="4626864"/>
            <a:ext cx="4846320" cy="228600"/>
          </a:xfrm>
          <a:prstGeom prst="rect">
            <a:avLst/>
          </a:prstGeom>
          <a:noFill/>
        </p:spPr>
        <p:txBody>
          <a:bodyPr wrap="square">
            <a:spAutoFit/>
          </a:bodyPr>
          <a:lstStyle/>
          <a:p>
            <a:pPr algn="l"/>
            <a:r>
              <a:rPr sz="900" b="0">
                <a:solidFill>
                  <a:srgbClr val="99928D"/>
                </a:solidFill>
                <a:latin typeface="Helvetica Neue"/>
              </a:rPr>
              <a:t>飲み方・シーンの具体性</a:t>
            </a:r>
          </a:p>
        </p:txBody>
      </p:sp>
      <p:sp>
        <p:nvSpPr>
          <p:cNvPr id="23" name="Rectangle 22"/>
          <p:cNvSpPr/>
          <p:nvPr/>
        </p:nvSpPr>
        <p:spPr>
          <a:xfrm>
            <a:off x="502920" y="5065776"/>
            <a:ext cx="5394960" cy="822960"/>
          </a:xfrm>
          <a:prstGeom prst="rect">
            <a:avLst/>
          </a:prstGeom>
          <a:solidFill>
            <a:srgbClr val="F8F7F5"/>
          </a:solidFill>
          <a:ln w="6350">
            <a:solidFill>
              <a:srgbClr val="CC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5065776"/>
            <a:ext cx="38100" cy="82296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5167376"/>
            <a:ext cx="3474720" cy="330200"/>
          </a:xfrm>
          <a:prstGeom prst="rect">
            <a:avLst/>
          </a:prstGeom>
          <a:noFill/>
        </p:spPr>
        <p:txBody>
          <a:bodyPr wrap="square">
            <a:spAutoFit/>
          </a:bodyPr>
          <a:lstStyle/>
          <a:p>
            <a:pPr algn="l"/>
            <a:r>
              <a:rPr sz="1500" b="0">
                <a:solidFill>
                  <a:srgbClr val="2A221E"/>
                </a:solidFill>
                <a:latin typeface="Hiragino Kaku Gothic ProN"/>
              </a:rPr>
              <a:t>世界・フランス</a:t>
            </a:r>
          </a:p>
        </p:txBody>
      </p:sp>
      <p:sp>
        <p:nvSpPr>
          <p:cNvPr id="26" name="TextBox 25"/>
          <p:cNvSpPr txBox="1"/>
          <p:nvPr/>
        </p:nvSpPr>
        <p:spPr>
          <a:xfrm>
            <a:off x="713232" y="5522976"/>
            <a:ext cx="4846320" cy="228600"/>
          </a:xfrm>
          <a:prstGeom prst="rect">
            <a:avLst/>
          </a:prstGeom>
          <a:noFill/>
        </p:spPr>
        <p:txBody>
          <a:bodyPr wrap="square">
            <a:spAutoFit/>
          </a:bodyPr>
          <a:lstStyle/>
          <a:p>
            <a:pPr algn="l"/>
            <a:r>
              <a:rPr sz="900" b="0">
                <a:solidFill>
                  <a:srgbClr val="99928D"/>
                </a:solidFill>
                <a:latin typeface="Helvetica Neue"/>
              </a:rPr>
              <a:t>外部評価による信頼の担保</a:t>
            </a:r>
          </a:p>
        </p:txBody>
      </p:sp>
      <p:sp>
        <p:nvSpPr>
          <p:cNvPr id="27" name="Rectangle 26"/>
          <p:cNvSpPr/>
          <p:nvPr/>
        </p:nvSpPr>
        <p:spPr>
          <a:xfrm>
            <a:off x="6172200" y="502920"/>
            <a:ext cx="7620" cy="5943600"/>
          </a:xfrm>
          <a:prstGeom prst="rect">
            <a:avLst/>
          </a:prstGeom>
          <a:solidFill>
            <a:srgbClr val="CC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777240"/>
            <a:ext cx="5303520" cy="594360"/>
          </a:xfrm>
          <a:prstGeom prst="rect">
            <a:avLst/>
          </a:prstGeom>
          <a:noFill/>
        </p:spPr>
        <p:txBody>
          <a:bodyPr wrap="square">
            <a:spAutoFit/>
          </a:bodyPr>
          <a:lstStyle/>
          <a:p>
            <a:pPr algn="l"/>
            <a:r>
              <a:rPr sz="2400" b="1">
                <a:solidFill>
                  <a:srgbClr val="2A221E"/>
                </a:solidFill>
                <a:latin typeface="Hiragino Kaku Gothic ProN"/>
              </a:rPr>
              <a:t>ユーザーインサイト</a:t>
            </a:r>
          </a:p>
        </p:txBody>
      </p:sp>
      <p:sp>
        <p:nvSpPr>
          <p:cNvPr id="29" name="Rectangle 28"/>
          <p:cNvSpPr/>
          <p:nvPr/>
        </p:nvSpPr>
        <p:spPr>
          <a:xfrm>
            <a:off x="6492240" y="1481328"/>
            <a:ext cx="5349240" cy="4526280"/>
          </a:xfrm>
          <a:prstGeom prst="rect">
            <a:avLst/>
          </a:prstGeom>
          <a:solidFill>
            <a:srgbClr val="2A2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92240" y="1481328"/>
            <a:ext cx="5349240" cy="3810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12280" y="1691640"/>
            <a:ext cx="4754880" cy="1737360"/>
          </a:xfrm>
          <a:prstGeom prst="rect">
            <a:avLst/>
          </a:prstGeom>
          <a:noFill/>
        </p:spPr>
        <p:txBody>
          <a:bodyPr wrap="square">
            <a:spAutoFit/>
          </a:bodyPr>
          <a:lstStyle/>
          <a:p>
            <a:pPr algn="ctr"/>
            <a:r>
              <a:rPr sz="2100" b="1">
                <a:solidFill>
                  <a:srgbClr val="FFFFFF"/>
                </a:solidFill>
                <a:latin typeface="Hiragino Kaku Gothic ProN"/>
              </a:rPr>
              <a:t>人は日本酒の「味」より、
その酒を選ぶ「理由」を求めている。</a:t>
            </a:r>
          </a:p>
        </p:txBody>
      </p:sp>
      <p:sp>
        <p:nvSpPr>
          <p:cNvPr id="32" name="Rectangle 31"/>
          <p:cNvSpPr/>
          <p:nvPr/>
        </p:nvSpPr>
        <p:spPr>
          <a:xfrm>
            <a:off x="8138160" y="3337560"/>
            <a:ext cx="2286000" cy="10160"/>
          </a:xfrm>
          <a:prstGeom prst="rect">
            <a:avLst/>
          </a:prstGeom>
          <a:solidFill>
            <a:srgbClr val="B89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12280" y="3493008"/>
            <a:ext cx="4663440" cy="2331720"/>
          </a:xfrm>
          <a:prstGeom prst="rect">
            <a:avLst/>
          </a:prstGeom>
          <a:noFill/>
        </p:spPr>
        <p:txBody>
          <a:bodyPr wrap="square">
            <a:spAutoFit/>
          </a:bodyPr>
          <a:lstStyle/>
          <a:p>
            <a:pPr algn="ctr"/>
            <a:r>
              <a:rPr sz="1150" b="0">
                <a:solidFill>
                  <a:srgbClr val="99928D"/>
                </a:solidFill>
                <a:latin typeface="Hiragino Kaku Gothic ProN"/>
              </a:rPr>
              <a:t>希少性、物語、産地の個性、海外の評価——
どれも本質は同じ。
「なぜこれを飲むのか」という
自分を納得させる言葉が欲しい。
小松酒造場が伝えるべきは
この一本を手に取る"意味"である。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6566</TotalTime>
  <Words>370</Words>
  <Application>Microsoft Macintosh PowerPoint</Application>
  <PresentationFormat>ユーザー設定</PresentationFormat>
  <Paragraphs>113</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Hiragino Kaku Gothic ProN</vt:lpstr>
      <vt:lpstr>Arial</vt:lpstr>
      <vt:lpstr>Calibri</vt:lpstr>
      <vt:lpstr>Helvetica Neue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明里 圭修</cp:lastModifiedBy>
  <cp:revision>2</cp:revision>
  <dcterms:created xsi:type="dcterms:W3CDTF">2013-01-27T09:14:16Z</dcterms:created>
  <dcterms:modified xsi:type="dcterms:W3CDTF">2026-03-09T18:53:47Z</dcterms:modified>
  <cp:category/>
</cp:coreProperties>
</file>