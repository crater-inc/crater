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144000" cy="457200"/>
          </a:xfrm>
          <a:prstGeom prst="rect">
            <a:avLst/>
          </a:prstGeom>
          <a:noFill/>
        </p:spPr>
        <p:txBody>
          <a:bodyPr wrap="square">
            <a:spAutoFit/>
          </a:bodyPr>
          <a:lstStyle/>
          <a:p>
            <a:pPr algn="ctr"/>
            <a:r>
              <a:rPr sz="1000" b="0">
                <a:solidFill>
                  <a:srgbClr val="C8A84B"/>
                </a:solidFill>
                <a:latin typeface="Helvetica Neue"/>
              </a:rPr>
              <a:t>SURVEY ANALYSIS REPORT  —  KOMATSU SAKE BREWERY</a:t>
            </a:r>
          </a:p>
        </p:txBody>
      </p:sp>
      <p:sp>
        <p:nvSpPr>
          <p:cNvPr id="5" name="TextBox 4"/>
          <p:cNvSpPr txBox="1"/>
          <p:nvPr/>
        </p:nvSpPr>
        <p:spPr>
          <a:xfrm>
            <a:off x="1371600" y="1737360"/>
            <a:ext cx="9144000" cy="1828800"/>
          </a:xfrm>
          <a:prstGeom prst="rect">
            <a:avLst/>
          </a:prstGeom>
          <a:noFill/>
        </p:spPr>
        <p:txBody>
          <a:bodyPr wrap="square">
            <a:spAutoFit/>
          </a:bodyPr>
          <a:lstStyle/>
          <a:p>
            <a:pPr algn="ctr"/>
            <a:r>
              <a:rPr sz="3400" b="0">
                <a:solidFill>
                  <a:srgbClr val="FFFFFF"/>
                </a:solidFill>
                <a:latin typeface="Hiragino Mincho ProN"/>
              </a:rPr>
              <a:t>「飲みたくなる・買ってみたくなる」
5つの切り口アンケート分析</a:t>
            </a:r>
          </a:p>
        </p:txBody>
      </p:sp>
      <p:sp>
        <p:nvSpPr>
          <p:cNvPr id="6" name="Rectangle 5"/>
          <p:cNvSpPr/>
          <p:nvPr/>
        </p:nvSpPr>
        <p:spPr>
          <a:xfrm>
            <a:off x="5029200" y="3520440"/>
            <a:ext cx="2103120" cy="36576"/>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3749039"/>
            <a:ext cx="2560320" cy="731520"/>
          </a:xfrm>
          <a:prstGeom prst="rect">
            <a:avLst/>
          </a:prstGeom>
          <a:noFill/>
        </p:spPr>
        <p:txBody>
          <a:bodyPr wrap="square">
            <a:spAutoFit/>
          </a:bodyPr>
          <a:lstStyle/>
          <a:p>
            <a:pPr algn="ctr"/>
            <a:r>
              <a:rPr sz="3600" b="1">
                <a:solidFill>
                  <a:srgbClr val="FFFFFF"/>
                </a:solidFill>
                <a:latin typeface="Helvetica Neue"/>
              </a:rPr>
              <a:t>500</a:t>
            </a:r>
          </a:p>
        </p:txBody>
      </p:sp>
      <p:sp>
        <p:nvSpPr>
          <p:cNvPr id="8" name="TextBox 7"/>
          <p:cNvSpPr txBox="1"/>
          <p:nvPr/>
        </p:nvSpPr>
        <p:spPr>
          <a:xfrm>
            <a:off x="2011680" y="4389120"/>
            <a:ext cx="2560320" cy="457200"/>
          </a:xfrm>
          <a:prstGeom prst="rect">
            <a:avLst/>
          </a:prstGeom>
          <a:noFill/>
        </p:spPr>
        <p:txBody>
          <a:bodyPr wrap="square">
            <a:spAutoFit/>
          </a:bodyPr>
          <a:lstStyle/>
          <a:p>
            <a:pPr algn="ctr"/>
            <a:r>
              <a:rPr sz="1100" b="0">
                <a:solidFill>
                  <a:srgbClr val="6B6057"/>
                </a:solidFill>
                <a:latin typeface="Helvetica Neue"/>
              </a:rPr>
              <a:t>総回答数</a:t>
            </a:r>
          </a:p>
        </p:txBody>
      </p:sp>
      <p:sp>
        <p:nvSpPr>
          <p:cNvPr id="9" name="TextBox 8"/>
          <p:cNvSpPr txBox="1"/>
          <p:nvPr/>
        </p:nvSpPr>
        <p:spPr>
          <a:xfrm>
            <a:off x="4754880" y="3749039"/>
            <a:ext cx="2560320" cy="731520"/>
          </a:xfrm>
          <a:prstGeom prst="rect">
            <a:avLst/>
          </a:prstGeom>
          <a:noFill/>
        </p:spPr>
        <p:txBody>
          <a:bodyPr wrap="square">
            <a:spAutoFit/>
          </a:bodyPr>
          <a:lstStyle/>
          <a:p>
            <a:pPr algn="ctr"/>
            <a:r>
              <a:rPr sz="3600" b="1">
                <a:solidFill>
                  <a:srgbClr val="FFFFFF"/>
                </a:solidFill>
                <a:latin typeface="Helvetica Neue"/>
              </a:rPr>
              <a:t>5</a:t>
            </a:r>
          </a:p>
        </p:txBody>
      </p:sp>
      <p:sp>
        <p:nvSpPr>
          <p:cNvPr id="10" name="TextBox 9"/>
          <p:cNvSpPr txBox="1"/>
          <p:nvPr/>
        </p:nvSpPr>
        <p:spPr>
          <a:xfrm>
            <a:off x="4754880" y="4389120"/>
            <a:ext cx="2560320" cy="457200"/>
          </a:xfrm>
          <a:prstGeom prst="rect">
            <a:avLst/>
          </a:prstGeom>
          <a:noFill/>
        </p:spPr>
        <p:txBody>
          <a:bodyPr wrap="square">
            <a:spAutoFit/>
          </a:bodyPr>
          <a:lstStyle/>
          <a:p>
            <a:pPr algn="ctr"/>
            <a:r>
              <a:rPr sz="1100" b="0">
                <a:solidFill>
                  <a:srgbClr val="6B6057"/>
                </a:solidFill>
                <a:latin typeface="Helvetica Neue"/>
              </a:rPr>
              <a:t>切り口（選択肢）</a:t>
            </a:r>
          </a:p>
        </p:txBody>
      </p:sp>
      <p:sp>
        <p:nvSpPr>
          <p:cNvPr id="11" name="TextBox 10"/>
          <p:cNvSpPr txBox="1"/>
          <p:nvPr/>
        </p:nvSpPr>
        <p:spPr>
          <a:xfrm>
            <a:off x="7498079" y="3749039"/>
            <a:ext cx="2560320" cy="731520"/>
          </a:xfrm>
          <a:prstGeom prst="rect">
            <a:avLst/>
          </a:prstGeom>
          <a:noFill/>
        </p:spPr>
        <p:txBody>
          <a:bodyPr wrap="square">
            <a:spAutoFit/>
          </a:bodyPr>
          <a:lstStyle/>
          <a:p>
            <a:pPr algn="ctr"/>
            <a:r>
              <a:rPr sz="3600" b="1">
                <a:solidFill>
                  <a:srgbClr val="FFFFFF"/>
                </a:solidFill>
                <a:latin typeface="Helvetica Neue"/>
              </a:rPr>
              <a:t>2026.03.05</a:t>
            </a:r>
          </a:p>
        </p:txBody>
      </p:sp>
      <p:sp>
        <p:nvSpPr>
          <p:cNvPr id="12" name="TextBox 11"/>
          <p:cNvSpPr txBox="1"/>
          <p:nvPr/>
        </p:nvSpPr>
        <p:spPr>
          <a:xfrm>
            <a:off x="7498079" y="4389120"/>
            <a:ext cx="2560320" cy="457200"/>
          </a:xfrm>
          <a:prstGeom prst="rect">
            <a:avLst/>
          </a:prstGeom>
          <a:noFill/>
        </p:spPr>
        <p:txBody>
          <a:bodyPr wrap="square">
            <a:spAutoFit/>
          </a:bodyPr>
          <a:lstStyle/>
          <a:p>
            <a:pPr algn="ctr"/>
            <a:r>
              <a:rPr sz="1100" b="0">
                <a:solidFill>
                  <a:srgbClr val="6B6057"/>
                </a:solidFill>
                <a:latin typeface="Helvetica Neue"/>
              </a:rPr>
              <a:t>調査日</a:t>
            </a:r>
          </a:p>
        </p:txBody>
      </p:sp>
      <p:sp>
        <p:nvSpPr>
          <p:cNvPr id="13" name="Rectangle 12"/>
          <p:cNvSpPr/>
          <p:nvPr/>
        </p:nvSpPr>
        <p:spPr>
          <a:xfrm>
            <a:off x="0" y="6812280"/>
            <a:ext cx="12188952" cy="457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5486400" cy="365760"/>
          </a:xfrm>
          <a:prstGeom prst="rect">
            <a:avLst/>
          </a:prstGeom>
          <a:noFill/>
        </p:spPr>
        <p:txBody>
          <a:bodyPr wrap="square">
            <a:spAutoFit/>
          </a:bodyPr>
          <a:lstStyle/>
          <a:p>
            <a:pPr algn="l"/>
            <a:r>
              <a:rPr sz="900" b="0">
                <a:solidFill>
                  <a:srgbClr val="C8A84B"/>
                </a:solidFill>
                <a:latin typeface="Helvetica Neue"/>
              </a:rPr>
              <a:t>QUANTITATIVE ANALYSIS</a:t>
            </a:r>
          </a:p>
        </p:txBody>
      </p:sp>
      <p:sp>
        <p:nvSpPr>
          <p:cNvPr id="5" name="TextBox 4"/>
          <p:cNvSpPr txBox="1"/>
          <p:nvPr/>
        </p:nvSpPr>
        <p:spPr>
          <a:xfrm>
            <a:off x="640080" y="594360"/>
            <a:ext cx="7315200" cy="640080"/>
          </a:xfrm>
          <a:prstGeom prst="rect">
            <a:avLst/>
          </a:prstGeom>
          <a:noFill/>
        </p:spPr>
        <p:txBody>
          <a:bodyPr wrap="square">
            <a:spAutoFit/>
          </a:bodyPr>
          <a:lstStyle/>
          <a:p>
            <a:pPr algn="l"/>
            <a:r>
              <a:rPr sz="2600" b="0">
                <a:solidFill>
                  <a:srgbClr val="1A1410"/>
                </a:solidFill>
                <a:latin typeface="Hiragino Mincho ProN"/>
              </a:rPr>
              <a:t>総合支持率ランキング</a:t>
            </a:r>
          </a:p>
        </p:txBody>
      </p:sp>
      <p:sp>
        <p:nvSpPr>
          <p:cNvPr id="6" name="TextBox 5"/>
          <p:cNvSpPr txBox="1"/>
          <p:nvPr/>
        </p:nvSpPr>
        <p:spPr>
          <a:xfrm>
            <a:off x="640080" y="1097280"/>
            <a:ext cx="8229600" cy="457200"/>
          </a:xfrm>
          <a:prstGeom prst="rect">
            <a:avLst/>
          </a:prstGeom>
          <a:noFill/>
        </p:spPr>
        <p:txBody>
          <a:bodyPr wrap="square">
            <a:spAutoFit/>
          </a:bodyPr>
          <a:lstStyle/>
          <a:p>
            <a:pPr algn="l"/>
            <a:r>
              <a:rPr sz="1200" b="0">
                <a:solidFill>
                  <a:srgbClr val="6B6057"/>
                </a:solidFill>
                <a:latin typeface="Hiragino Mincho ProN"/>
              </a:rPr>
              <a:t>1位票＋2位票の合算。500人中、何人がこの切り口を選んだか。</a:t>
            </a:r>
          </a:p>
        </p:txBody>
      </p:sp>
      <p:sp>
        <p:nvSpPr>
          <p:cNvPr id="7" name="Rectangle 6"/>
          <p:cNvSpPr/>
          <p:nvPr/>
        </p:nvSpPr>
        <p:spPr>
          <a:xfrm>
            <a:off x="457200" y="1691640"/>
            <a:ext cx="1124712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56232"/>
            <a:ext cx="475488" cy="475488"/>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856232"/>
            <a:ext cx="475488" cy="475488"/>
          </a:xfrm>
          <a:prstGeom prst="rect">
            <a:avLst/>
          </a:prstGeom>
          <a:noFill/>
        </p:spPr>
        <p:txBody>
          <a:bodyPr wrap="square">
            <a:spAutoFit/>
          </a:bodyPr>
          <a:lstStyle/>
          <a:p>
            <a:pPr algn="ctr"/>
            <a:r>
              <a:rPr sz="1600" b="1">
                <a:solidFill>
                  <a:srgbClr val="1A1410"/>
                </a:solidFill>
                <a:latin typeface="Helvetica Neue"/>
              </a:rPr>
              <a:t>1</a:t>
            </a:r>
          </a:p>
        </p:txBody>
      </p:sp>
      <p:sp>
        <p:nvSpPr>
          <p:cNvPr id="10" name="TextBox 9"/>
          <p:cNvSpPr txBox="1"/>
          <p:nvPr/>
        </p:nvSpPr>
        <p:spPr>
          <a:xfrm>
            <a:off x="1143000" y="1874520"/>
            <a:ext cx="1463040" cy="502920"/>
          </a:xfrm>
          <a:prstGeom prst="rect">
            <a:avLst/>
          </a:prstGeom>
          <a:noFill/>
        </p:spPr>
        <p:txBody>
          <a:bodyPr wrap="square">
            <a:spAutoFit/>
          </a:bodyPr>
          <a:lstStyle/>
          <a:p>
            <a:pPr algn="l"/>
            <a:r>
              <a:rPr sz="1500" b="0">
                <a:solidFill>
                  <a:srgbClr val="1A1410"/>
                </a:solidFill>
                <a:latin typeface="Hiragino Mincho ProN"/>
              </a:rPr>
              <a:t>幻の米</a:t>
            </a:r>
          </a:p>
        </p:txBody>
      </p:sp>
      <p:sp>
        <p:nvSpPr>
          <p:cNvPr id="11" name="Rectangle 10"/>
          <p:cNvSpPr/>
          <p:nvPr/>
        </p:nvSpPr>
        <p:spPr>
          <a:xfrm>
            <a:off x="2743200" y="1856232"/>
            <a:ext cx="3770789" cy="201168"/>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7141" y="1810512"/>
            <a:ext cx="548640" cy="274320"/>
          </a:xfrm>
          <a:prstGeom prst="rect">
            <a:avLst/>
          </a:prstGeom>
          <a:noFill/>
        </p:spPr>
        <p:txBody>
          <a:bodyPr wrap="square">
            <a:spAutoFit/>
          </a:bodyPr>
          <a:lstStyle/>
          <a:p>
            <a:pPr algn="l"/>
            <a:r>
              <a:rPr sz="900" b="0">
                <a:solidFill>
                  <a:srgbClr val="6B6057"/>
                </a:solidFill>
                <a:latin typeface="Helvetica Neue"/>
              </a:rPr>
              <a:t>278票</a:t>
            </a:r>
          </a:p>
        </p:txBody>
      </p:sp>
      <p:sp>
        <p:nvSpPr>
          <p:cNvPr id="13" name="Rectangle 12"/>
          <p:cNvSpPr/>
          <p:nvPr/>
        </p:nvSpPr>
        <p:spPr>
          <a:xfrm>
            <a:off x="2743200" y="2112264"/>
            <a:ext cx="1532730" cy="201168"/>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9082" y="2066544"/>
            <a:ext cx="548640" cy="274320"/>
          </a:xfrm>
          <a:prstGeom prst="rect">
            <a:avLst/>
          </a:prstGeom>
          <a:noFill/>
        </p:spPr>
        <p:txBody>
          <a:bodyPr wrap="square">
            <a:spAutoFit/>
          </a:bodyPr>
          <a:lstStyle/>
          <a:p>
            <a:pPr algn="l"/>
            <a:r>
              <a:rPr sz="900" b="0">
                <a:solidFill>
                  <a:srgbClr val="6B6057"/>
                </a:solidFill>
                <a:latin typeface="Helvetica Neue"/>
              </a:rPr>
              <a:t>113票</a:t>
            </a:r>
          </a:p>
        </p:txBody>
      </p:sp>
      <p:sp>
        <p:nvSpPr>
          <p:cNvPr id="15" name="TextBox 14"/>
          <p:cNvSpPr txBox="1"/>
          <p:nvPr/>
        </p:nvSpPr>
        <p:spPr>
          <a:xfrm>
            <a:off x="9144000" y="1737360"/>
            <a:ext cx="1097280" cy="548640"/>
          </a:xfrm>
          <a:prstGeom prst="rect">
            <a:avLst/>
          </a:prstGeom>
          <a:noFill/>
        </p:spPr>
        <p:txBody>
          <a:bodyPr wrap="square">
            <a:spAutoFit/>
          </a:bodyPr>
          <a:lstStyle/>
          <a:p>
            <a:pPr algn="r"/>
            <a:r>
              <a:rPr sz="3000" b="1">
                <a:solidFill>
                  <a:srgbClr val="C8A84B"/>
                </a:solidFill>
                <a:latin typeface="Helvetica Neue"/>
              </a:rPr>
              <a:t>391</a:t>
            </a:r>
          </a:p>
        </p:txBody>
      </p:sp>
      <p:sp>
        <p:nvSpPr>
          <p:cNvPr id="16" name="TextBox 15"/>
          <p:cNvSpPr txBox="1"/>
          <p:nvPr/>
        </p:nvSpPr>
        <p:spPr>
          <a:xfrm>
            <a:off x="9144000" y="2212847"/>
            <a:ext cx="1097280" cy="274320"/>
          </a:xfrm>
          <a:prstGeom prst="rect">
            <a:avLst/>
          </a:prstGeom>
          <a:noFill/>
        </p:spPr>
        <p:txBody>
          <a:bodyPr wrap="square">
            <a:spAutoFit/>
          </a:bodyPr>
          <a:lstStyle/>
          <a:p>
            <a:pPr algn="r"/>
            <a:r>
              <a:rPr sz="1000" b="0">
                <a:solidFill>
                  <a:srgbClr val="6B6057"/>
                </a:solidFill>
                <a:latin typeface="Helvetica Neue"/>
              </a:rPr>
              <a:t>支持率 78.2%</a:t>
            </a:r>
          </a:p>
        </p:txBody>
      </p:sp>
      <p:sp>
        <p:nvSpPr>
          <p:cNvPr id="17" name="Rectangle 16"/>
          <p:cNvSpPr/>
          <p:nvPr/>
        </p:nvSpPr>
        <p:spPr>
          <a:xfrm>
            <a:off x="457200" y="2514600"/>
            <a:ext cx="11247120" cy="768096"/>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679192"/>
            <a:ext cx="475488" cy="475488"/>
          </a:xfrm>
          <a:prstGeom prst="rect">
            <a:avLst/>
          </a:prstGeom>
          <a:solidFill>
            <a:srgbClr val="A8A0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679192"/>
            <a:ext cx="475488" cy="475488"/>
          </a:xfrm>
          <a:prstGeom prst="rect">
            <a:avLst/>
          </a:prstGeom>
          <a:noFill/>
        </p:spPr>
        <p:txBody>
          <a:bodyPr wrap="square">
            <a:spAutoFit/>
          </a:bodyPr>
          <a:lstStyle/>
          <a:p>
            <a:pPr algn="ctr"/>
            <a:r>
              <a:rPr sz="1600" b="1">
                <a:solidFill>
                  <a:srgbClr val="FFFFFF"/>
                </a:solidFill>
                <a:latin typeface="Helvetica Neue"/>
              </a:rPr>
              <a:t>2</a:t>
            </a:r>
          </a:p>
        </p:txBody>
      </p:sp>
      <p:sp>
        <p:nvSpPr>
          <p:cNvPr id="20" name="TextBox 19"/>
          <p:cNvSpPr txBox="1"/>
          <p:nvPr/>
        </p:nvSpPr>
        <p:spPr>
          <a:xfrm>
            <a:off x="1143000" y="2697480"/>
            <a:ext cx="1463040" cy="502920"/>
          </a:xfrm>
          <a:prstGeom prst="rect">
            <a:avLst/>
          </a:prstGeom>
          <a:noFill/>
        </p:spPr>
        <p:txBody>
          <a:bodyPr wrap="square">
            <a:spAutoFit/>
          </a:bodyPr>
          <a:lstStyle/>
          <a:p>
            <a:pPr algn="l"/>
            <a:r>
              <a:rPr sz="1500" b="0">
                <a:solidFill>
                  <a:srgbClr val="1A1410"/>
                </a:solidFill>
                <a:latin typeface="Hiragino Mincho ProN"/>
              </a:rPr>
              <a:t>世界の評価</a:t>
            </a:r>
          </a:p>
        </p:txBody>
      </p:sp>
      <p:sp>
        <p:nvSpPr>
          <p:cNvPr id="21" name="Rectangle 20"/>
          <p:cNvSpPr/>
          <p:nvPr/>
        </p:nvSpPr>
        <p:spPr>
          <a:xfrm>
            <a:off x="2743200" y="2679192"/>
            <a:ext cx="623943" cy="201168"/>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40295" y="2633472"/>
            <a:ext cx="548640" cy="274320"/>
          </a:xfrm>
          <a:prstGeom prst="rect">
            <a:avLst/>
          </a:prstGeom>
          <a:noFill/>
        </p:spPr>
        <p:txBody>
          <a:bodyPr wrap="square">
            <a:spAutoFit/>
          </a:bodyPr>
          <a:lstStyle/>
          <a:p>
            <a:pPr algn="l"/>
            <a:r>
              <a:rPr sz="900" b="0">
                <a:solidFill>
                  <a:srgbClr val="6B6057"/>
                </a:solidFill>
                <a:latin typeface="Helvetica Neue"/>
              </a:rPr>
              <a:t>46票</a:t>
            </a:r>
          </a:p>
        </p:txBody>
      </p:sp>
      <p:sp>
        <p:nvSpPr>
          <p:cNvPr id="23" name="Rectangle 22"/>
          <p:cNvSpPr/>
          <p:nvPr/>
        </p:nvSpPr>
        <p:spPr>
          <a:xfrm>
            <a:off x="2743200" y="2935224"/>
            <a:ext cx="1478474" cy="201168"/>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4826" y="2889504"/>
            <a:ext cx="548640" cy="274320"/>
          </a:xfrm>
          <a:prstGeom prst="rect">
            <a:avLst/>
          </a:prstGeom>
          <a:noFill/>
        </p:spPr>
        <p:txBody>
          <a:bodyPr wrap="square">
            <a:spAutoFit/>
          </a:bodyPr>
          <a:lstStyle/>
          <a:p>
            <a:pPr algn="l"/>
            <a:r>
              <a:rPr sz="900" b="0">
                <a:solidFill>
                  <a:srgbClr val="6B6057"/>
                </a:solidFill>
                <a:latin typeface="Helvetica Neue"/>
              </a:rPr>
              <a:t>109票</a:t>
            </a:r>
          </a:p>
        </p:txBody>
      </p:sp>
      <p:sp>
        <p:nvSpPr>
          <p:cNvPr id="25" name="TextBox 24"/>
          <p:cNvSpPr txBox="1"/>
          <p:nvPr/>
        </p:nvSpPr>
        <p:spPr>
          <a:xfrm>
            <a:off x="9144000" y="2560320"/>
            <a:ext cx="1097280" cy="548640"/>
          </a:xfrm>
          <a:prstGeom prst="rect">
            <a:avLst/>
          </a:prstGeom>
          <a:noFill/>
        </p:spPr>
        <p:txBody>
          <a:bodyPr wrap="square">
            <a:spAutoFit/>
          </a:bodyPr>
          <a:lstStyle/>
          <a:p>
            <a:pPr algn="r"/>
            <a:r>
              <a:rPr sz="3000" b="1">
                <a:solidFill>
                  <a:srgbClr val="A8A09A"/>
                </a:solidFill>
                <a:latin typeface="Helvetica Neue"/>
              </a:rPr>
              <a:t>155</a:t>
            </a:r>
          </a:p>
        </p:txBody>
      </p:sp>
      <p:sp>
        <p:nvSpPr>
          <p:cNvPr id="26" name="TextBox 25"/>
          <p:cNvSpPr txBox="1"/>
          <p:nvPr/>
        </p:nvSpPr>
        <p:spPr>
          <a:xfrm>
            <a:off x="9144000" y="3035807"/>
            <a:ext cx="1097280" cy="274320"/>
          </a:xfrm>
          <a:prstGeom prst="rect">
            <a:avLst/>
          </a:prstGeom>
          <a:noFill/>
        </p:spPr>
        <p:txBody>
          <a:bodyPr wrap="square">
            <a:spAutoFit/>
          </a:bodyPr>
          <a:lstStyle/>
          <a:p>
            <a:pPr algn="r"/>
            <a:r>
              <a:rPr sz="1000" b="0">
                <a:solidFill>
                  <a:srgbClr val="6B6057"/>
                </a:solidFill>
                <a:latin typeface="Helvetica Neue"/>
              </a:rPr>
              <a:t>支持率 31.0%</a:t>
            </a:r>
          </a:p>
        </p:txBody>
      </p:sp>
      <p:sp>
        <p:nvSpPr>
          <p:cNvPr id="27" name="Rectangle 26"/>
          <p:cNvSpPr/>
          <p:nvPr/>
        </p:nvSpPr>
        <p:spPr>
          <a:xfrm>
            <a:off x="457200" y="3337560"/>
            <a:ext cx="1124712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502152"/>
            <a:ext cx="475488" cy="475488"/>
          </a:xfrm>
          <a:prstGeom prst="rect">
            <a:avLst/>
          </a:prstGeom>
          <a:solidFill>
            <a:srgbClr val="A06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502152"/>
            <a:ext cx="475488" cy="475488"/>
          </a:xfrm>
          <a:prstGeom prst="rect">
            <a:avLst/>
          </a:prstGeom>
          <a:noFill/>
        </p:spPr>
        <p:txBody>
          <a:bodyPr wrap="square">
            <a:spAutoFit/>
          </a:bodyPr>
          <a:lstStyle/>
          <a:p>
            <a:pPr algn="ctr"/>
            <a:r>
              <a:rPr sz="1600" b="1">
                <a:solidFill>
                  <a:srgbClr val="FFFFFF"/>
                </a:solidFill>
                <a:latin typeface="Helvetica Neue"/>
              </a:rPr>
              <a:t>3</a:t>
            </a:r>
          </a:p>
        </p:txBody>
      </p:sp>
      <p:sp>
        <p:nvSpPr>
          <p:cNvPr id="30" name="TextBox 29"/>
          <p:cNvSpPr txBox="1"/>
          <p:nvPr/>
        </p:nvSpPr>
        <p:spPr>
          <a:xfrm>
            <a:off x="1143000" y="3520440"/>
            <a:ext cx="1463040" cy="502920"/>
          </a:xfrm>
          <a:prstGeom prst="rect">
            <a:avLst/>
          </a:prstGeom>
          <a:noFill/>
        </p:spPr>
        <p:txBody>
          <a:bodyPr wrap="square">
            <a:spAutoFit/>
          </a:bodyPr>
          <a:lstStyle/>
          <a:p>
            <a:pPr algn="l"/>
            <a:r>
              <a:rPr sz="1500" b="0">
                <a:solidFill>
                  <a:srgbClr val="1A1410"/>
                </a:solidFill>
                <a:latin typeface="Hiragino Mincho ProN"/>
              </a:rPr>
              <a:t>復活の物語</a:t>
            </a:r>
          </a:p>
        </p:txBody>
      </p:sp>
      <p:sp>
        <p:nvSpPr>
          <p:cNvPr id="31" name="Rectangle 30"/>
          <p:cNvSpPr/>
          <p:nvPr/>
        </p:nvSpPr>
        <p:spPr>
          <a:xfrm>
            <a:off x="2743200" y="3502152"/>
            <a:ext cx="908787" cy="201168"/>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5139" y="3456432"/>
            <a:ext cx="548640" cy="274320"/>
          </a:xfrm>
          <a:prstGeom prst="rect">
            <a:avLst/>
          </a:prstGeom>
          <a:noFill/>
        </p:spPr>
        <p:txBody>
          <a:bodyPr wrap="square">
            <a:spAutoFit/>
          </a:bodyPr>
          <a:lstStyle/>
          <a:p>
            <a:pPr algn="l"/>
            <a:r>
              <a:rPr sz="900" b="0">
                <a:solidFill>
                  <a:srgbClr val="6B6057"/>
                </a:solidFill>
                <a:latin typeface="Helvetica Neue"/>
              </a:rPr>
              <a:t>67票</a:t>
            </a:r>
          </a:p>
        </p:txBody>
      </p:sp>
      <p:sp>
        <p:nvSpPr>
          <p:cNvPr id="33" name="Rectangle 32"/>
          <p:cNvSpPr/>
          <p:nvPr/>
        </p:nvSpPr>
        <p:spPr>
          <a:xfrm>
            <a:off x="2743200" y="3758184"/>
            <a:ext cx="1180067" cy="201168"/>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96419" y="3712464"/>
            <a:ext cx="548640" cy="274320"/>
          </a:xfrm>
          <a:prstGeom prst="rect">
            <a:avLst/>
          </a:prstGeom>
          <a:noFill/>
        </p:spPr>
        <p:txBody>
          <a:bodyPr wrap="square">
            <a:spAutoFit/>
          </a:bodyPr>
          <a:lstStyle/>
          <a:p>
            <a:pPr algn="l"/>
            <a:r>
              <a:rPr sz="900" b="0">
                <a:solidFill>
                  <a:srgbClr val="6B6057"/>
                </a:solidFill>
                <a:latin typeface="Helvetica Neue"/>
              </a:rPr>
              <a:t>87票</a:t>
            </a:r>
          </a:p>
        </p:txBody>
      </p:sp>
      <p:sp>
        <p:nvSpPr>
          <p:cNvPr id="35" name="TextBox 34"/>
          <p:cNvSpPr txBox="1"/>
          <p:nvPr/>
        </p:nvSpPr>
        <p:spPr>
          <a:xfrm>
            <a:off x="9144000" y="3383280"/>
            <a:ext cx="1097280" cy="548640"/>
          </a:xfrm>
          <a:prstGeom prst="rect">
            <a:avLst/>
          </a:prstGeom>
          <a:noFill/>
        </p:spPr>
        <p:txBody>
          <a:bodyPr wrap="square">
            <a:spAutoFit/>
          </a:bodyPr>
          <a:lstStyle/>
          <a:p>
            <a:pPr algn="r"/>
            <a:r>
              <a:rPr sz="3000" b="1">
                <a:solidFill>
                  <a:srgbClr val="A06040"/>
                </a:solidFill>
                <a:latin typeface="Helvetica Neue"/>
              </a:rPr>
              <a:t>154</a:t>
            </a:r>
          </a:p>
        </p:txBody>
      </p:sp>
      <p:sp>
        <p:nvSpPr>
          <p:cNvPr id="36" name="TextBox 35"/>
          <p:cNvSpPr txBox="1"/>
          <p:nvPr/>
        </p:nvSpPr>
        <p:spPr>
          <a:xfrm>
            <a:off x="9144000" y="3858767"/>
            <a:ext cx="1097280" cy="274320"/>
          </a:xfrm>
          <a:prstGeom prst="rect">
            <a:avLst/>
          </a:prstGeom>
          <a:noFill/>
        </p:spPr>
        <p:txBody>
          <a:bodyPr wrap="square">
            <a:spAutoFit/>
          </a:bodyPr>
          <a:lstStyle/>
          <a:p>
            <a:pPr algn="r"/>
            <a:r>
              <a:rPr sz="1000" b="0">
                <a:solidFill>
                  <a:srgbClr val="6B6057"/>
                </a:solidFill>
                <a:latin typeface="Helvetica Neue"/>
              </a:rPr>
              <a:t>支持率 30.8%</a:t>
            </a:r>
          </a:p>
        </p:txBody>
      </p:sp>
      <p:sp>
        <p:nvSpPr>
          <p:cNvPr id="37" name="Rectangle 36"/>
          <p:cNvSpPr/>
          <p:nvPr/>
        </p:nvSpPr>
        <p:spPr>
          <a:xfrm>
            <a:off x="457200" y="4160520"/>
            <a:ext cx="11247120" cy="768096"/>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4325112"/>
            <a:ext cx="475488" cy="475488"/>
          </a:xfrm>
          <a:prstGeom prst="rect">
            <a:avLst/>
          </a:prstGeom>
          <a:solidFill>
            <a:srgbClr val="6B6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325112"/>
            <a:ext cx="475488" cy="475488"/>
          </a:xfrm>
          <a:prstGeom prst="rect">
            <a:avLst/>
          </a:prstGeom>
          <a:noFill/>
        </p:spPr>
        <p:txBody>
          <a:bodyPr wrap="square">
            <a:spAutoFit/>
          </a:bodyPr>
          <a:lstStyle/>
          <a:p>
            <a:pPr algn="ctr"/>
            <a:r>
              <a:rPr sz="1600" b="1">
                <a:solidFill>
                  <a:srgbClr val="FFFFFF"/>
                </a:solidFill>
                <a:latin typeface="Helvetica Neue"/>
              </a:rPr>
              <a:t>4</a:t>
            </a:r>
          </a:p>
        </p:txBody>
      </p:sp>
      <p:sp>
        <p:nvSpPr>
          <p:cNvPr id="40" name="TextBox 39"/>
          <p:cNvSpPr txBox="1"/>
          <p:nvPr/>
        </p:nvSpPr>
        <p:spPr>
          <a:xfrm>
            <a:off x="1143000" y="4343400"/>
            <a:ext cx="1463040" cy="502920"/>
          </a:xfrm>
          <a:prstGeom prst="rect">
            <a:avLst/>
          </a:prstGeom>
          <a:noFill/>
        </p:spPr>
        <p:txBody>
          <a:bodyPr wrap="square">
            <a:spAutoFit/>
          </a:bodyPr>
          <a:lstStyle/>
          <a:p>
            <a:pPr algn="l"/>
            <a:r>
              <a:rPr sz="1500" b="0">
                <a:solidFill>
                  <a:srgbClr val="1A1410"/>
                </a:solidFill>
                <a:latin typeface="Hiragino Mincho ProN"/>
              </a:rPr>
              <a:t>太古の記憶</a:t>
            </a:r>
          </a:p>
        </p:txBody>
      </p:sp>
      <p:sp>
        <p:nvSpPr>
          <p:cNvPr id="41" name="Rectangle 40"/>
          <p:cNvSpPr/>
          <p:nvPr/>
        </p:nvSpPr>
        <p:spPr>
          <a:xfrm>
            <a:off x="2743200" y="4325112"/>
            <a:ext cx="759583" cy="201168"/>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75935" y="4279392"/>
            <a:ext cx="548640" cy="274320"/>
          </a:xfrm>
          <a:prstGeom prst="rect">
            <a:avLst/>
          </a:prstGeom>
          <a:noFill/>
        </p:spPr>
        <p:txBody>
          <a:bodyPr wrap="square">
            <a:spAutoFit/>
          </a:bodyPr>
          <a:lstStyle/>
          <a:p>
            <a:pPr algn="l"/>
            <a:r>
              <a:rPr sz="900" b="0">
                <a:solidFill>
                  <a:srgbClr val="6B6057"/>
                </a:solidFill>
                <a:latin typeface="Helvetica Neue"/>
              </a:rPr>
              <a:t>56票</a:t>
            </a:r>
          </a:p>
        </p:txBody>
      </p:sp>
      <p:sp>
        <p:nvSpPr>
          <p:cNvPr id="43" name="Rectangle 42"/>
          <p:cNvSpPr/>
          <p:nvPr/>
        </p:nvSpPr>
        <p:spPr>
          <a:xfrm>
            <a:off x="2743200" y="4581144"/>
            <a:ext cx="1180067" cy="201168"/>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96419" y="4535424"/>
            <a:ext cx="548640" cy="274320"/>
          </a:xfrm>
          <a:prstGeom prst="rect">
            <a:avLst/>
          </a:prstGeom>
          <a:noFill/>
        </p:spPr>
        <p:txBody>
          <a:bodyPr wrap="square">
            <a:spAutoFit/>
          </a:bodyPr>
          <a:lstStyle/>
          <a:p>
            <a:pPr algn="l"/>
            <a:r>
              <a:rPr sz="900" b="0">
                <a:solidFill>
                  <a:srgbClr val="6B6057"/>
                </a:solidFill>
                <a:latin typeface="Helvetica Neue"/>
              </a:rPr>
              <a:t>87票</a:t>
            </a:r>
          </a:p>
        </p:txBody>
      </p:sp>
      <p:sp>
        <p:nvSpPr>
          <p:cNvPr id="45" name="TextBox 44"/>
          <p:cNvSpPr txBox="1"/>
          <p:nvPr/>
        </p:nvSpPr>
        <p:spPr>
          <a:xfrm>
            <a:off x="9144000" y="4206240"/>
            <a:ext cx="1097280" cy="548640"/>
          </a:xfrm>
          <a:prstGeom prst="rect">
            <a:avLst/>
          </a:prstGeom>
          <a:noFill/>
        </p:spPr>
        <p:txBody>
          <a:bodyPr wrap="square">
            <a:spAutoFit/>
          </a:bodyPr>
          <a:lstStyle/>
          <a:p>
            <a:pPr algn="r"/>
            <a:r>
              <a:rPr sz="3000" b="1">
                <a:solidFill>
                  <a:srgbClr val="6B6057"/>
                </a:solidFill>
                <a:latin typeface="Helvetica Neue"/>
              </a:rPr>
              <a:t>143</a:t>
            </a:r>
          </a:p>
        </p:txBody>
      </p:sp>
      <p:sp>
        <p:nvSpPr>
          <p:cNvPr id="46" name="TextBox 45"/>
          <p:cNvSpPr txBox="1"/>
          <p:nvPr/>
        </p:nvSpPr>
        <p:spPr>
          <a:xfrm>
            <a:off x="9144000" y="4681727"/>
            <a:ext cx="1097280" cy="274320"/>
          </a:xfrm>
          <a:prstGeom prst="rect">
            <a:avLst/>
          </a:prstGeom>
          <a:noFill/>
        </p:spPr>
        <p:txBody>
          <a:bodyPr wrap="square">
            <a:spAutoFit/>
          </a:bodyPr>
          <a:lstStyle/>
          <a:p>
            <a:pPr algn="r"/>
            <a:r>
              <a:rPr sz="1000" b="0">
                <a:solidFill>
                  <a:srgbClr val="6B6057"/>
                </a:solidFill>
                <a:latin typeface="Helvetica Neue"/>
              </a:rPr>
              <a:t>支持率 28.6%</a:t>
            </a:r>
          </a:p>
        </p:txBody>
      </p:sp>
      <p:sp>
        <p:nvSpPr>
          <p:cNvPr id="47" name="Rectangle 46"/>
          <p:cNvSpPr/>
          <p:nvPr/>
        </p:nvSpPr>
        <p:spPr>
          <a:xfrm>
            <a:off x="457200" y="4983480"/>
            <a:ext cx="11247120"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5148072"/>
            <a:ext cx="475488" cy="475488"/>
          </a:xfrm>
          <a:prstGeom prst="rect">
            <a:avLst/>
          </a:prstGeom>
          <a:solidFill>
            <a:srgbClr val="6B6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5148072"/>
            <a:ext cx="475488" cy="475488"/>
          </a:xfrm>
          <a:prstGeom prst="rect">
            <a:avLst/>
          </a:prstGeom>
          <a:noFill/>
        </p:spPr>
        <p:txBody>
          <a:bodyPr wrap="square">
            <a:spAutoFit/>
          </a:bodyPr>
          <a:lstStyle/>
          <a:p>
            <a:pPr algn="ctr"/>
            <a:r>
              <a:rPr sz="1600" b="1">
                <a:solidFill>
                  <a:srgbClr val="FFFFFF"/>
                </a:solidFill>
                <a:latin typeface="Helvetica Neue"/>
              </a:rPr>
              <a:t>5</a:t>
            </a:r>
          </a:p>
        </p:txBody>
      </p:sp>
      <p:sp>
        <p:nvSpPr>
          <p:cNvPr id="50" name="TextBox 49"/>
          <p:cNvSpPr txBox="1"/>
          <p:nvPr/>
        </p:nvSpPr>
        <p:spPr>
          <a:xfrm>
            <a:off x="1143000" y="5166360"/>
            <a:ext cx="1463040" cy="502920"/>
          </a:xfrm>
          <a:prstGeom prst="rect">
            <a:avLst/>
          </a:prstGeom>
          <a:noFill/>
        </p:spPr>
        <p:txBody>
          <a:bodyPr wrap="square">
            <a:spAutoFit/>
          </a:bodyPr>
          <a:lstStyle/>
          <a:p>
            <a:pPr algn="l"/>
            <a:r>
              <a:rPr sz="1500" b="0">
                <a:solidFill>
                  <a:srgbClr val="1A1410"/>
                </a:solidFill>
                <a:latin typeface="Hiragino Mincho ProN"/>
              </a:rPr>
              <a:t>究極の脇役</a:t>
            </a:r>
          </a:p>
        </p:txBody>
      </p:sp>
      <p:sp>
        <p:nvSpPr>
          <p:cNvPr id="51" name="Rectangle 50"/>
          <p:cNvSpPr/>
          <p:nvPr/>
        </p:nvSpPr>
        <p:spPr>
          <a:xfrm>
            <a:off x="2743200" y="5148072"/>
            <a:ext cx="623943" cy="201168"/>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40295" y="5102352"/>
            <a:ext cx="548640" cy="274320"/>
          </a:xfrm>
          <a:prstGeom prst="rect">
            <a:avLst/>
          </a:prstGeom>
          <a:noFill/>
        </p:spPr>
        <p:txBody>
          <a:bodyPr wrap="square">
            <a:spAutoFit/>
          </a:bodyPr>
          <a:lstStyle/>
          <a:p>
            <a:pPr algn="l"/>
            <a:r>
              <a:rPr sz="900" b="0">
                <a:solidFill>
                  <a:srgbClr val="6B6057"/>
                </a:solidFill>
                <a:latin typeface="Helvetica Neue"/>
              </a:rPr>
              <a:t>46票</a:t>
            </a:r>
          </a:p>
        </p:txBody>
      </p:sp>
      <p:sp>
        <p:nvSpPr>
          <p:cNvPr id="53" name="Rectangle 52"/>
          <p:cNvSpPr/>
          <p:nvPr/>
        </p:nvSpPr>
        <p:spPr>
          <a:xfrm>
            <a:off x="2743200" y="5404104"/>
            <a:ext cx="1247887" cy="201168"/>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064239" y="5358384"/>
            <a:ext cx="548640" cy="274320"/>
          </a:xfrm>
          <a:prstGeom prst="rect">
            <a:avLst/>
          </a:prstGeom>
          <a:noFill/>
        </p:spPr>
        <p:txBody>
          <a:bodyPr wrap="square">
            <a:spAutoFit/>
          </a:bodyPr>
          <a:lstStyle/>
          <a:p>
            <a:pPr algn="l"/>
            <a:r>
              <a:rPr sz="900" b="0">
                <a:solidFill>
                  <a:srgbClr val="6B6057"/>
                </a:solidFill>
                <a:latin typeface="Helvetica Neue"/>
              </a:rPr>
              <a:t>92票</a:t>
            </a:r>
          </a:p>
        </p:txBody>
      </p:sp>
      <p:sp>
        <p:nvSpPr>
          <p:cNvPr id="55" name="TextBox 54"/>
          <p:cNvSpPr txBox="1"/>
          <p:nvPr/>
        </p:nvSpPr>
        <p:spPr>
          <a:xfrm>
            <a:off x="9144000" y="5029200"/>
            <a:ext cx="1097280" cy="548640"/>
          </a:xfrm>
          <a:prstGeom prst="rect">
            <a:avLst/>
          </a:prstGeom>
          <a:noFill/>
        </p:spPr>
        <p:txBody>
          <a:bodyPr wrap="square">
            <a:spAutoFit/>
          </a:bodyPr>
          <a:lstStyle/>
          <a:p>
            <a:pPr algn="r"/>
            <a:r>
              <a:rPr sz="3000" b="1">
                <a:solidFill>
                  <a:srgbClr val="6B6057"/>
                </a:solidFill>
                <a:latin typeface="Helvetica Neue"/>
              </a:rPr>
              <a:t>138</a:t>
            </a:r>
          </a:p>
        </p:txBody>
      </p:sp>
      <p:sp>
        <p:nvSpPr>
          <p:cNvPr id="56" name="TextBox 55"/>
          <p:cNvSpPr txBox="1"/>
          <p:nvPr/>
        </p:nvSpPr>
        <p:spPr>
          <a:xfrm>
            <a:off x="9144000" y="5504687"/>
            <a:ext cx="1097280" cy="274320"/>
          </a:xfrm>
          <a:prstGeom prst="rect">
            <a:avLst/>
          </a:prstGeom>
          <a:noFill/>
        </p:spPr>
        <p:txBody>
          <a:bodyPr wrap="square">
            <a:spAutoFit/>
          </a:bodyPr>
          <a:lstStyle/>
          <a:p>
            <a:pPr algn="r"/>
            <a:r>
              <a:rPr sz="1000" b="0">
                <a:solidFill>
                  <a:srgbClr val="6B6057"/>
                </a:solidFill>
                <a:latin typeface="Helvetica Neue"/>
              </a:rPr>
              <a:t>支持率 27.6%</a:t>
            </a:r>
          </a:p>
        </p:txBody>
      </p:sp>
      <p:sp>
        <p:nvSpPr>
          <p:cNvPr id="57" name="Rectangle 56"/>
          <p:cNvSpPr/>
          <p:nvPr/>
        </p:nvSpPr>
        <p:spPr>
          <a:xfrm>
            <a:off x="640080" y="6172200"/>
            <a:ext cx="228600" cy="128016"/>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6126480"/>
            <a:ext cx="2011680" cy="274320"/>
          </a:xfrm>
          <a:prstGeom prst="rect">
            <a:avLst/>
          </a:prstGeom>
          <a:noFill/>
        </p:spPr>
        <p:txBody>
          <a:bodyPr wrap="square">
            <a:spAutoFit/>
          </a:bodyPr>
          <a:lstStyle/>
          <a:p>
            <a:pPr algn="l"/>
            <a:r>
              <a:rPr sz="1000" b="0">
                <a:solidFill>
                  <a:srgbClr val="6B6057"/>
                </a:solidFill>
                <a:latin typeface="Helvetica Neue"/>
              </a:rPr>
              <a:t>1位に選んだ票数</a:t>
            </a:r>
          </a:p>
        </p:txBody>
      </p:sp>
      <p:sp>
        <p:nvSpPr>
          <p:cNvPr id="59" name="Rectangle 58"/>
          <p:cNvSpPr/>
          <p:nvPr/>
        </p:nvSpPr>
        <p:spPr>
          <a:xfrm>
            <a:off x="3017520" y="6172200"/>
            <a:ext cx="228600" cy="128016"/>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91840" y="6126480"/>
            <a:ext cx="2011680" cy="274320"/>
          </a:xfrm>
          <a:prstGeom prst="rect">
            <a:avLst/>
          </a:prstGeom>
          <a:noFill/>
        </p:spPr>
        <p:txBody>
          <a:bodyPr wrap="square">
            <a:spAutoFit/>
          </a:bodyPr>
          <a:lstStyle/>
          <a:p>
            <a:pPr algn="l"/>
            <a:r>
              <a:rPr sz="1000" b="0">
                <a:solidFill>
                  <a:srgbClr val="6B6057"/>
                </a:solidFill>
                <a:latin typeface="Helvetica Neue"/>
              </a:rPr>
              <a:t>2位に選んだ票数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5486400" cy="365760"/>
          </a:xfrm>
          <a:prstGeom prst="rect">
            <a:avLst/>
          </a:prstGeom>
          <a:noFill/>
        </p:spPr>
        <p:txBody>
          <a:bodyPr wrap="square">
            <a:spAutoFit/>
          </a:bodyPr>
          <a:lstStyle/>
          <a:p>
            <a:pPr algn="l"/>
            <a:r>
              <a:rPr sz="900" b="0">
                <a:solidFill>
                  <a:srgbClr val="C8A84B"/>
                </a:solidFill>
                <a:latin typeface="Helvetica Neue"/>
              </a:rPr>
              <a:t>GAP ANALYSIS</a:t>
            </a:r>
          </a:p>
        </p:txBody>
      </p:sp>
      <p:sp>
        <p:nvSpPr>
          <p:cNvPr id="5" name="TextBox 4"/>
          <p:cNvSpPr txBox="1"/>
          <p:nvPr/>
        </p:nvSpPr>
        <p:spPr>
          <a:xfrm>
            <a:off x="640080" y="594360"/>
            <a:ext cx="7315200" cy="640080"/>
          </a:xfrm>
          <a:prstGeom prst="rect">
            <a:avLst/>
          </a:prstGeom>
          <a:noFill/>
        </p:spPr>
        <p:txBody>
          <a:bodyPr wrap="square">
            <a:spAutoFit/>
          </a:bodyPr>
          <a:lstStyle/>
          <a:p>
            <a:pPr algn="l"/>
            <a:r>
              <a:rPr sz="2600" b="0">
                <a:solidFill>
                  <a:srgbClr val="1A1410"/>
                </a:solidFill>
                <a:latin typeface="Hiragino Mincho ProN"/>
              </a:rPr>
              <a:t>期待のギャップ分析</a:t>
            </a:r>
          </a:p>
        </p:txBody>
      </p:sp>
      <p:sp>
        <p:nvSpPr>
          <p:cNvPr id="6" name="TextBox 5"/>
          <p:cNvSpPr txBox="1"/>
          <p:nvPr/>
        </p:nvSpPr>
        <p:spPr>
          <a:xfrm>
            <a:off x="640080" y="1097280"/>
            <a:ext cx="10972800" cy="457200"/>
          </a:xfrm>
          <a:prstGeom prst="rect">
            <a:avLst/>
          </a:prstGeom>
          <a:noFill/>
        </p:spPr>
        <p:txBody>
          <a:bodyPr wrap="square">
            <a:spAutoFit/>
          </a:bodyPr>
          <a:lstStyle/>
          <a:p>
            <a:pPr algn="l"/>
            <a:r>
              <a:rPr sz="1200" b="0">
                <a:solidFill>
                  <a:srgbClr val="6B6057"/>
                </a:solidFill>
                <a:latin typeface="Hiragino Mincho ProN"/>
              </a:rPr>
              <a:t>「1位票」と「2位票」の差＝即決で選ばれるか、じわじわ評価されるかがわかる。</a:t>
            </a:r>
          </a:p>
        </p:txBody>
      </p:sp>
      <p:sp>
        <p:nvSpPr>
          <p:cNvPr id="7" name="Rectangle 6"/>
          <p:cNvSpPr/>
          <p:nvPr/>
        </p:nvSpPr>
        <p:spPr>
          <a:xfrm>
            <a:off x="594360" y="1645920"/>
            <a:ext cx="2651760" cy="4206240"/>
          </a:xfrm>
          <a:prstGeom prst="rect">
            <a:avLst/>
          </a:prstGeom>
          <a:solidFill>
            <a:srgbClr val="FFFFFF"/>
          </a:solidFill>
          <a:ln w="19050">
            <a:solidFill>
              <a:srgbClr val="C8A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10512"/>
            <a:ext cx="2377440" cy="3200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10512"/>
            <a:ext cx="2377440" cy="320040"/>
          </a:xfrm>
          <a:prstGeom prst="rect">
            <a:avLst/>
          </a:prstGeom>
          <a:noFill/>
        </p:spPr>
        <p:txBody>
          <a:bodyPr wrap="square">
            <a:spAutoFit/>
          </a:bodyPr>
          <a:lstStyle/>
          <a:p>
            <a:pPr algn="ctr"/>
            <a:r>
              <a:rPr sz="900" b="0">
                <a:solidFill>
                  <a:srgbClr val="C06020"/>
                </a:solidFill>
                <a:latin typeface="Helvetica Neue"/>
              </a:rPr>
              <a:t>★ 圧倒的 一目惚れ型</a:t>
            </a:r>
          </a:p>
        </p:txBody>
      </p:sp>
      <p:sp>
        <p:nvSpPr>
          <p:cNvPr id="10" name="TextBox 9"/>
          <p:cNvSpPr txBox="1"/>
          <p:nvPr/>
        </p:nvSpPr>
        <p:spPr>
          <a:xfrm>
            <a:off x="731520" y="2212848"/>
            <a:ext cx="2377440" cy="457200"/>
          </a:xfrm>
          <a:prstGeom prst="rect">
            <a:avLst/>
          </a:prstGeom>
          <a:noFill/>
        </p:spPr>
        <p:txBody>
          <a:bodyPr wrap="square">
            <a:spAutoFit/>
          </a:bodyPr>
          <a:lstStyle/>
          <a:p>
            <a:pPr algn="l"/>
            <a:r>
              <a:rPr sz="1700" b="0">
                <a:solidFill>
                  <a:srgbClr val="1A1410"/>
                </a:solidFill>
                <a:latin typeface="Hiragino Mincho ProN"/>
              </a:rPr>
              <a:t>幻の米</a:t>
            </a:r>
          </a:p>
        </p:txBody>
      </p:sp>
      <p:sp>
        <p:nvSpPr>
          <p:cNvPr id="11" name="Rectangle 10"/>
          <p:cNvSpPr/>
          <p:nvPr/>
        </p:nvSpPr>
        <p:spPr>
          <a:xfrm>
            <a:off x="914400" y="2697480"/>
            <a:ext cx="502920" cy="128016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54480" y="3457287"/>
            <a:ext cx="502920" cy="520352"/>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95928"/>
            <a:ext cx="502920" cy="274320"/>
          </a:xfrm>
          <a:prstGeom prst="rect">
            <a:avLst/>
          </a:prstGeom>
          <a:noFill/>
        </p:spPr>
        <p:txBody>
          <a:bodyPr wrap="square">
            <a:spAutoFit/>
          </a:bodyPr>
          <a:lstStyle/>
          <a:p>
            <a:pPr algn="ctr"/>
            <a:r>
              <a:rPr sz="1400" b="1">
                <a:solidFill>
                  <a:srgbClr val="1A1410"/>
                </a:solidFill>
                <a:latin typeface="Helvetica Neue"/>
              </a:rPr>
              <a:t>278</a:t>
            </a:r>
          </a:p>
        </p:txBody>
      </p:sp>
      <p:sp>
        <p:nvSpPr>
          <p:cNvPr id="14" name="TextBox 13"/>
          <p:cNvSpPr txBox="1"/>
          <p:nvPr/>
        </p:nvSpPr>
        <p:spPr>
          <a:xfrm>
            <a:off x="914400" y="4233672"/>
            <a:ext cx="502920" cy="228600"/>
          </a:xfrm>
          <a:prstGeom prst="rect">
            <a:avLst/>
          </a:prstGeom>
          <a:noFill/>
        </p:spPr>
        <p:txBody>
          <a:bodyPr wrap="square">
            <a:spAutoFit/>
          </a:bodyPr>
          <a:lstStyle/>
          <a:p>
            <a:pPr algn="ctr"/>
            <a:r>
              <a:rPr sz="900" b="0">
                <a:solidFill>
                  <a:srgbClr val="6B6057"/>
                </a:solidFill>
                <a:latin typeface="Helvetica Neue"/>
              </a:rPr>
              <a:t>1位票</a:t>
            </a:r>
          </a:p>
        </p:txBody>
      </p:sp>
      <p:sp>
        <p:nvSpPr>
          <p:cNvPr id="15" name="TextBox 14"/>
          <p:cNvSpPr txBox="1"/>
          <p:nvPr/>
        </p:nvSpPr>
        <p:spPr>
          <a:xfrm>
            <a:off x="1554480" y="3995928"/>
            <a:ext cx="502920" cy="274320"/>
          </a:xfrm>
          <a:prstGeom prst="rect">
            <a:avLst/>
          </a:prstGeom>
          <a:noFill/>
        </p:spPr>
        <p:txBody>
          <a:bodyPr wrap="square">
            <a:spAutoFit/>
          </a:bodyPr>
          <a:lstStyle/>
          <a:p>
            <a:pPr algn="ctr"/>
            <a:r>
              <a:rPr sz="1400" b="1">
                <a:solidFill>
                  <a:srgbClr val="1A1410"/>
                </a:solidFill>
                <a:latin typeface="Helvetica Neue"/>
              </a:rPr>
              <a:t>113</a:t>
            </a:r>
          </a:p>
        </p:txBody>
      </p:sp>
      <p:sp>
        <p:nvSpPr>
          <p:cNvPr id="16" name="TextBox 15"/>
          <p:cNvSpPr txBox="1"/>
          <p:nvPr/>
        </p:nvSpPr>
        <p:spPr>
          <a:xfrm>
            <a:off x="1554480" y="4233672"/>
            <a:ext cx="502920" cy="228600"/>
          </a:xfrm>
          <a:prstGeom prst="rect">
            <a:avLst/>
          </a:prstGeom>
          <a:noFill/>
        </p:spPr>
        <p:txBody>
          <a:bodyPr wrap="square">
            <a:spAutoFit/>
          </a:bodyPr>
          <a:lstStyle/>
          <a:p>
            <a:pPr algn="ctr"/>
            <a:r>
              <a:rPr sz="900" b="0">
                <a:solidFill>
                  <a:srgbClr val="6B6057"/>
                </a:solidFill>
                <a:latin typeface="Helvetica Neue"/>
              </a:rPr>
              <a:t>2位票</a:t>
            </a:r>
          </a:p>
        </p:txBody>
      </p:sp>
      <p:sp>
        <p:nvSpPr>
          <p:cNvPr id="17" name="TextBox 16"/>
          <p:cNvSpPr txBox="1"/>
          <p:nvPr/>
        </p:nvSpPr>
        <p:spPr>
          <a:xfrm>
            <a:off x="731520" y="4572000"/>
            <a:ext cx="2377440" cy="320040"/>
          </a:xfrm>
          <a:prstGeom prst="rect">
            <a:avLst/>
          </a:prstGeom>
          <a:noFill/>
        </p:spPr>
        <p:txBody>
          <a:bodyPr wrap="square">
            <a:spAutoFit/>
          </a:bodyPr>
          <a:lstStyle/>
          <a:p>
            <a:pPr algn="ctr"/>
            <a:r>
              <a:rPr sz="1300" b="1">
                <a:solidFill>
                  <a:srgbClr val="C8A84B"/>
                </a:solidFill>
                <a:latin typeface="Helvetica Neue"/>
              </a:rPr>
              <a:t>差 +165票</a:t>
            </a:r>
          </a:p>
        </p:txBody>
      </p:sp>
      <p:sp>
        <p:nvSpPr>
          <p:cNvPr id="18" name="TextBox 17"/>
          <p:cNvSpPr txBox="1"/>
          <p:nvPr/>
        </p:nvSpPr>
        <p:spPr>
          <a:xfrm>
            <a:off x="731520" y="4937760"/>
            <a:ext cx="2377440" cy="777240"/>
          </a:xfrm>
          <a:prstGeom prst="rect">
            <a:avLst/>
          </a:prstGeom>
          <a:noFill/>
        </p:spPr>
        <p:txBody>
          <a:bodyPr wrap="square">
            <a:spAutoFit/>
          </a:bodyPr>
          <a:lstStyle/>
          <a:p>
            <a:pPr algn="l"/>
            <a:r>
              <a:rPr sz="1000" b="0">
                <a:solidFill>
                  <a:srgbClr val="6B6057"/>
                </a:solidFill>
                <a:latin typeface="Hiragino Mincho ProN"/>
              </a:rPr>
              <a:t>見た瞬間に「これだ」と感じる力がある。
広告ファーストビューやパッケージに最適。</a:t>
            </a:r>
          </a:p>
        </p:txBody>
      </p:sp>
      <p:sp>
        <p:nvSpPr>
          <p:cNvPr id="19" name="Rectangle 18"/>
          <p:cNvSpPr/>
          <p:nvPr/>
        </p:nvSpPr>
        <p:spPr>
          <a:xfrm>
            <a:off x="3429000" y="1645920"/>
            <a:ext cx="2651760" cy="4206240"/>
          </a:xfrm>
          <a:prstGeom prst="rect">
            <a:avLst/>
          </a:prstGeom>
          <a:solidFill>
            <a:srgbClr val="FFFFFF"/>
          </a:solidFill>
          <a:ln w="1905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66160" y="1810512"/>
            <a:ext cx="2377440" cy="32004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1810512"/>
            <a:ext cx="2377440" cy="320040"/>
          </a:xfrm>
          <a:prstGeom prst="rect">
            <a:avLst/>
          </a:prstGeom>
          <a:noFill/>
        </p:spPr>
        <p:txBody>
          <a:bodyPr wrap="square">
            <a:spAutoFit/>
          </a:bodyPr>
          <a:lstStyle/>
          <a:p>
            <a:pPr algn="ctr"/>
            <a:r>
              <a:rPr sz="900" b="0">
                <a:solidFill>
                  <a:srgbClr val="3060A0"/>
                </a:solidFill>
                <a:latin typeface="Helvetica Neue"/>
              </a:rPr>
              <a:t>じわじわ型 安心・信頼</a:t>
            </a:r>
          </a:p>
        </p:txBody>
      </p:sp>
      <p:sp>
        <p:nvSpPr>
          <p:cNvPr id="22" name="TextBox 21"/>
          <p:cNvSpPr txBox="1"/>
          <p:nvPr/>
        </p:nvSpPr>
        <p:spPr>
          <a:xfrm>
            <a:off x="3566160" y="2212848"/>
            <a:ext cx="2377440" cy="457200"/>
          </a:xfrm>
          <a:prstGeom prst="rect">
            <a:avLst/>
          </a:prstGeom>
          <a:noFill/>
        </p:spPr>
        <p:txBody>
          <a:bodyPr wrap="square">
            <a:spAutoFit/>
          </a:bodyPr>
          <a:lstStyle/>
          <a:p>
            <a:pPr algn="l"/>
            <a:r>
              <a:rPr sz="1700" b="0">
                <a:solidFill>
                  <a:srgbClr val="1A1410"/>
                </a:solidFill>
                <a:latin typeface="Hiragino Mincho ProN"/>
              </a:rPr>
              <a:t>世界の評価</a:t>
            </a:r>
          </a:p>
        </p:txBody>
      </p:sp>
      <p:sp>
        <p:nvSpPr>
          <p:cNvPr id="23" name="Rectangle 22"/>
          <p:cNvSpPr/>
          <p:nvPr/>
        </p:nvSpPr>
        <p:spPr>
          <a:xfrm>
            <a:off x="3749040" y="3765814"/>
            <a:ext cx="502920" cy="211825"/>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475706"/>
            <a:ext cx="502920" cy="501933"/>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0" y="3995928"/>
            <a:ext cx="502920" cy="274320"/>
          </a:xfrm>
          <a:prstGeom prst="rect">
            <a:avLst/>
          </a:prstGeom>
          <a:noFill/>
        </p:spPr>
        <p:txBody>
          <a:bodyPr wrap="square">
            <a:spAutoFit/>
          </a:bodyPr>
          <a:lstStyle/>
          <a:p>
            <a:pPr algn="ctr"/>
            <a:r>
              <a:rPr sz="1400" b="1">
                <a:solidFill>
                  <a:srgbClr val="1A1410"/>
                </a:solidFill>
                <a:latin typeface="Helvetica Neue"/>
              </a:rPr>
              <a:t>46</a:t>
            </a:r>
          </a:p>
        </p:txBody>
      </p:sp>
      <p:sp>
        <p:nvSpPr>
          <p:cNvPr id="26" name="TextBox 25"/>
          <p:cNvSpPr txBox="1"/>
          <p:nvPr/>
        </p:nvSpPr>
        <p:spPr>
          <a:xfrm>
            <a:off x="3749040" y="4233672"/>
            <a:ext cx="502920" cy="228600"/>
          </a:xfrm>
          <a:prstGeom prst="rect">
            <a:avLst/>
          </a:prstGeom>
          <a:noFill/>
        </p:spPr>
        <p:txBody>
          <a:bodyPr wrap="square">
            <a:spAutoFit/>
          </a:bodyPr>
          <a:lstStyle/>
          <a:p>
            <a:pPr algn="ctr"/>
            <a:r>
              <a:rPr sz="900" b="0">
                <a:solidFill>
                  <a:srgbClr val="6B6057"/>
                </a:solidFill>
                <a:latin typeface="Helvetica Neue"/>
              </a:rPr>
              <a:t>1位票</a:t>
            </a:r>
          </a:p>
        </p:txBody>
      </p:sp>
      <p:sp>
        <p:nvSpPr>
          <p:cNvPr id="27" name="TextBox 26"/>
          <p:cNvSpPr txBox="1"/>
          <p:nvPr/>
        </p:nvSpPr>
        <p:spPr>
          <a:xfrm>
            <a:off x="4389120" y="3995928"/>
            <a:ext cx="502920" cy="274320"/>
          </a:xfrm>
          <a:prstGeom prst="rect">
            <a:avLst/>
          </a:prstGeom>
          <a:noFill/>
        </p:spPr>
        <p:txBody>
          <a:bodyPr wrap="square">
            <a:spAutoFit/>
          </a:bodyPr>
          <a:lstStyle/>
          <a:p>
            <a:pPr algn="ctr"/>
            <a:r>
              <a:rPr sz="1400" b="1">
                <a:solidFill>
                  <a:srgbClr val="1A1410"/>
                </a:solidFill>
                <a:latin typeface="Helvetica Neue"/>
              </a:rPr>
              <a:t>109</a:t>
            </a:r>
          </a:p>
        </p:txBody>
      </p:sp>
      <p:sp>
        <p:nvSpPr>
          <p:cNvPr id="28" name="TextBox 27"/>
          <p:cNvSpPr txBox="1"/>
          <p:nvPr/>
        </p:nvSpPr>
        <p:spPr>
          <a:xfrm>
            <a:off x="4389120" y="4233672"/>
            <a:ext cx="502920" cy="228600"/>
          </a:xfrm>
          <a:prstGeom prst="rect">
            <a:avLst/>
          </a:prstGeom>
          <a:noFill/>
        </p:spPr>
        <p:txBody>
          <a:bodyPr wrap="square">
            <a:spAutoFit/>
          </a:bodyPr>
          <a:lstStyle/>
          <a:p>
            <a:pPr algn="ctr"/>
            <a:r>
              <a:rPr sz="900" b="0">
                <a:solidFill>
                  <a:srgbClr val="6B6057"/>
                </a:solidFill>
                <a:latin typeface="Helvetica Neue"/>
              </a:rPr>
              <a:t>2位票</a:t>
            </a:r>
          </a:p>
        </p:txBody>
      </p:sp>
      <p:sp>
        <p:nvSpPr>
          <p:cNvPr id="29" name="TextBox 28"/>
          <p:cNvSpPr txBox="1"/>
          <p:nvPr/>
        </p:nvSpPr>
        <p:spPr>
          <a:xfrm>
            <a:off x="3566160" y="4572000"/>
            <a:ext cx="2377440" cy="320040"/>
          </a:xfrm>
          <a:prstGeom prst="rect">
            <a:avLst/>
          </a:prstGeom>
          <a:noFill/>
        </p:spPr>
        <p:txBody>
          <a:bodyPr wrap="square">
            <a:spAutoFit/>
          </a:bodyPr>
          <a:lstStyle/>
          <a:p>
            <a:pPr algn="ctr"/>
            <a:r>
              <a:rPr sz="1300" b="1">
                <a:solidFill>
                  <a:srgbClr val="A8C0D0"/>
                </a:solidFill>
                <a:latin typeface="Helvetica Neue"/>
              </a:rPr>
              <a:t>差 −63票</a:t>
            </a:r>
          </a:p>
        </p:txBody>
      </p:sp>
      <p:sp>
        <p:nvSpPr>
          <p:cNvPr id="30" name="TextBox 29"/>
          <p:cNvSpPr txBox="1"/>
          <p:nvPr/>
        </p:nvSpPr>
        <p:spPr>
          <a:xfrm>
            <a:off x="3566160" y="4937760"/>
            <a:ext cx="2377440" cy="777240"/>
          </a:xfrm>
          <a:prstGeom prst="rect">
            <a:avLst/>
          </a:prstGeom>
          <a:noFill/>
        </p:spPr>
        <p:txBody>
          <a:bodyPr wrap="square">
            <a:spAutoFit/>
          </a:bodyPr>
          <a:lstStyle/>
          <a:p>
            <a:pPr algn="l"/>
            <a:r>
              <a:rPr sz="1000" b="0">
                <a:solidFill>
                  <a:srgbClr val="6B6057"/>
                </a:solidFill>
                <a:latin typeface="Hiragino Mincho ProN"/>
              </a:rPr>
              <a:t>最初の一押しにはなりにくいが
信頼の裏付けとして機能する。</a:t>
            </a:r>
          </a:p>
        </p:txBody>
      </p:sp>
      <p:sp>
        <p:nvSpPr>
          <p:cNvPr id="31" name="Rectangle 30"/>
          <p:cNvSpPr/>
          <p:nvPr/>
        </p:nvSpPr>
        <p:spPr>
          <a:xfrm>
            <a:off x="6263640" y="1645920"/>
            <a:ext cx="2651760" cy="4206240"/>
          </a:xfrm>
          <a:prstGeom prst="rect">
            <a:avLst/>
          </a:prstGeom>
          <a:solidFill>
            <a:srgbClr val="FFFFFF"/>
          </a:solidFill>
          <a:ln w="1905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1810512"/>
            <a:ext cx="2377440" cy="32004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1810512"/>
            <a:ext cx="2377440" cy="320040"/>
          </a:xfrm>
          <a:prstGeom prst="rect">
            <a:avLst/>
          </a:prstGeom>
          <a:noFill/>
        </p:spPr>
        <p:txBody>
          <a:bodyPr wrap="square">
            <a:spAutoFit/>
          </a:bodyPr>
          <a:lstStyle/>
          <a:p>
            <a:pPr algn="ctr"/>
            <a:r>
              <a:rPr sz="900" b="0">
                <a:solidFill>
                  <a:srgbClr val="3060A0"/>
                </a:solidFill>
                <a:latin typeface="Helvetica Neue"/>
              </a:rPr>
              <a:t>じわじわ型 物語・ストーリー</a:t>
            </a:r>
          </a:p>
        </p:txBody>
      </p:sp>
      <p:sp>
        <p:nvSpPr>
          <p:cNvPr id="34" name="TextBox 33"/>
          <p:cNvSpPr txBox="1"/>
          <p:nvPr/>
        </p:nvSpPr>
        <p:spPr>
          <a:xfrm>
            <a:off x="6400800" y="2212848"/>
            <a:ext cx="2377440" cy="457200"/>
          </a:xfrm>
          <a:prstGeom prst="rect">
            <a:avLst/>
          </a:prstGeom>
          <a:noFill/>
        </p:spPr>
        <p:txBody>
          <a:bodyPr wrap="square">
            <a:spAutoFit/>
          </a:bodyPr>
          <a:lstStyle/>
          <a:p>
            <a:pPr algn="l"/>
            <a:r>
              <a:rPr sz="1700" b="0">
                <a:solidFill>
                  <a:srgbClr val="1A1410"/>
                </a:solidFill>
                <a:latin typeface="Hiragino Mincho ProN"/>
              </a:rPr>
              <a:t>復活の物語</a:t>
            </a:r>
          </a:p>
        </p:txBody>
      </p:sp>
      <p:sp>
        <p:nvSpPr>
          <p:cNvPr id="35" name="Rectangle 34"/>
          <p:cNvSpPr/>
          <p:nvPr/>
        </p:nvSpPr>
        <p:spPr>
          <a:xfrm>
            <a:off x="6583680" y="3669112"/>
            <a:ext cx="502920" cy="308527"/>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0" y="3577014"/>
            <a:ext cx="502920" cy="400625"/>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3995928"/>
            <a:ext cx="502920" cy="274320"/>
          </a:xfrm>
          <a:prstGeom prst="rect">
            <a:avLst/>
          </a:prstGeom>
          <a:noFill/>
        </p:spPr>
        <p:txBody>
          <a:bodyPr wrap="square">
            <a:spAutoFit/>
          </a:bodyPr>
          <a:lstStyle/>
          <a:p>
            <a:pPr algn="ctr"/>
            <a:r>
              <a:rPr sz="1400" b="1">
                <a:solidFill>
                  <a:srgbClr val="1A1410"/>
                </a:solidFill>
                <a:latin typeface="Helvetica Neue"/>
              </a:rPr>
              <a:t>67</a:t>
            </a:r>
          </a:p>
        </p:txBody>
      </p:sp>
      <p:sp>
        <p:nvSpPr>
          <p:cNvPr id="38" name="TextBox 37"/>
          <p:cNvSpPr txBox="1"/>
          <p:nvPr/>
        </p:nvSpPr>
        <p:spPr>
          <a:xfrm>
            <a:off x="6583680" y="4233672"/>
            <a:ext cx="502920" cy="228600"/>
          </a:xfrm>
          <a:prstGeom prst="rect">
            <a:avLst/>
          </a:prstGeom>
          <a:noFill/>
        </p:spPr>
        <p:txBody>
          <a:bodyPr wrap="square">
            <a:spAutoFit/>
          </a:bodyPr>
          <a:lstStyle/>
          <a:p>
            <a:pPr algn="ctr"/>
            <a:r>
              <a:rPr sz="900" b="0">
                <a:solidFill>
                  <a:srgbClr val="6B6057"/>
                </a:solidFill>
                <a:latin typeface="Helvetica Neue"/>
              </a:rPr>
              <a:t>1位票</a:t>
            </a:r>
          </a:p>
        </p:txBody>
      </p:sp>
      <p:sp>
        <p:nvSpPr>
          <p:cNvPr id="39" name="TextBox 38"/>
          <p:cNvSpPr txBox="1"/>
          <p:nvPr/>
        </p:nvSpPr>
        <p:spPr>
          <a:xfrm>
            <a:off x="7223760" y="3995928"/>
            <a:ext cx="502920" cy="274320"/>
          </a:xfrm>
          <a:prstGeom prst="rect">
            <a:avLst/>
          </a:prstGeom>
          <a:noFill/>
        </p:spPr>
        <p:txBody>
          <a:bodyPr wrap="square">
            <a:spAutoFit/>
          </a:bodyPr>
          <a:lstStyle/>
          <a:p>
            <a:pPr algn="ctr"/>
            <a:r>
              <a:rPr sz="1400" b="1">
                <a:solidFill>
                  <a:srgbClr val="1A1410"/>
                </a:solidFill>
                <a:latin typeface="Helvetica Neue"/>
              </a:rPr>
              <a:t>87</a:t>
            </a:r>
          </a:p>
        </p:txBody>
      </p:sp>
      <p:sp>
        <p:nvSpPr>
          <p:cNvPr id="40" name="TextBox 39"/>
          <p:cNvSpPr txBox="1"/>
          <p:nvPr/>
        </p:nvSpPr>
        <p:spPr>
          <a:xfrm>
            <a:off x="7223760" y="4233672"/>
            <a:ext cx="502920" cy="228600"/>
          </a:xfrm>
          <a:prstGeom prst="rect">
            <a:avLst/>
          </a:prstGeom>
          <a:noFill/>
        </p:spPr>
        <p:txBody>
          <a:bodyPr wrap="square">
            <a:spAutoFit/>
          </a:bodyPr>
          <a:lstStyle/>
          <a:p>
            <a:pPr algn="ctr"/>
            <a:r>
              <a:rPr sz="900" b="0">
                <a:solidFill>
                  <a:srgbClr val="6B6057"/>
                </a:solidFill>
                <a:latin typeface="Helvetica Neue"/>
              </a:rPr>
              <a:t>2位票</a:t>
            </a:r>
          </a:p>
        </p:txBody>
      </p:sp>
      <p:sp>
        <p:nvSpPr>
          <p:cNvPr id="41" name="TextBox 40"/>
          <p:cNvSpPr txBox="1"/>
          <p:nvPr/>
        </p:nvSpPr>
        <p:spPr>
          <a:xfrm>
            <a:off x="6400800" y="4572000"/>
            <a:ext cx="2377440" cy="320040"/>
          </a:xfrm>
          <a:prstGeom prst="rect">
            <a:avLst/>
          </a:prstGeom>
          <a:noFill/>
        </p:spPr>
        <p:txBody>
          <a:bodyPr wrap="square">
            <a:spAutoFit/>
          </a:bodyPr>
          <a:lstStyle/>
          <a:p>
            <a:pPr algn="ctr"/>
            <a:r>
              <a:rPr sz="1300" b="1">
                <a:solidFill>
                  <a:srgbClr val="A8C0D0"/>
                </a:solidFill>
                <a:latin typeface="Helvetica Neue"/>
              </a:rPr>
              <a:t>差 −20票</a:t>
            </a:r>
          </a:p>
        </p:txBody>
      </p:sp>
      <p:sp>
        <p:nvSpPr>
          <p:cNvPr id="42" name="TextBox 41"/>
          <p:cNvSpPr txBox="1"/>
          <p:nvPr/>
        </p:nvSpPr>
        <p:spPr>
          <a:xfrm>
            <a:off x="6400800" y="4937760"/>
            <a:ext cx="2377440" cy="777240"/>
          </a:xfrm>
          <a:prstGeom prst="rect">
            <a:avLst/>
          </a:prstGeom>
          <a:noFill/>
        </p:spPr>
        <p:txBody>
          <a:bodyPr wrap="square">
            <a:spAutoFit/>
          </a:bodyPr>
          <a:lstStyle/>
          <a:p>
            <a:pPr algn="l"/>
            <a:r>
              <a:rPr sz="1000" b="0">
                <a:solidFill>
                  <a:srgbClr val="6B6057"/>
                </a:solidFill>
                <a:latin typeface="Hiragino Mincho ProN"/>
              </a:rPr>
              <a:t>読むほど刺さる。SNS長尺コンテンツや
記事との相性が良い。</a:t>
            </a:r>
          </a:p>
        </p:txBody>
      </p:sp>
      <p:sp>
        <p:nvSpPr>
          <p:cNvPr id="43" name="Rectangle 42"/>
          <p:cNvSpPr/>
          <p:nvPr/>
        </p:nvSpPr>
        <p:spPr>
          <a:xfrm>
            <a:off x="9098280" y="1645920"/>
            <a:ext cx="2651760" cy="4206240"/>
          </a:xfrm>
          <a:prstGeom prst="rect">
            <a:avLst/>
          </a:prstGeom>
          <a:solidFill>
            <a:srgbClr val="FFFFFF"/>
          </a:solidFill>
          <a:ln w="1905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235440" y="1810512"/>
            <a:ext cx="2377440" cy="32004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0" y="1810512"/>
            <a:ext cx="2377440" cy="320040"/>
          </a:xfrm>
          <a:prstGeom prst="rect">
            <a:avLst/>
          </a:prstGeom>
          <a:noFill/>
        </p:spPr>
        <p:txBody>
          <a:bodyPr wrap="square">
            <a:spAutoFit/>
          </a:bodyPr>
          <a:lstStyle/>
          <a:p>
            <a:pPr algn="ctr"/>
            <a:r>
              <a:rPr sz="900" b="0">
                <a:solidFill>
                  <a:srgbClr val="3060A0"/>
                </a:solidFill>
                <a:latin typeface="Helvetica Neue"/>
              </a:rPr>
              <a:t>じわじわ型 日常使い</a:t>
            </a:r>
          </a:p>
        </p:txBody>
      </p:sp>
      <p:sp>
        <p:nvSpPr>
          <p:cNvPr id="46" name="TextBox 45"/>
          <p:cNvSpPr txBox="1"/>
          <p:nvPr/>
        </p:nvSpPr>
        <p:spPr>
          <a:xfrm>
            <a:off x="9235440" y="2212848"/>
            <a:ext cx="2377440" cy="457200"/>
          </a:xfrm>
          <a:prstGeom prst="rect">
            <a:avLst/>
          </a:prstGeom>
          <a:noFill/>
        </p:spPr>
        <p:txBody>
          <a:bodyPr wrap="square">
            <a:spAutoFit/>
          </a:bodyPr>
          <a:lstStyle/>
          <a:p>
            <a:pPr algn="l"/>
            <a:r>
              <a:rPr sz="1700" b="0">
                <a:solidFill>
                  <a:srgbClr val="1A1410"/>
                </a:solidFill>
                <a:latin typeface="Hiragino Mincho ProN"/>
              </a:rPr>
              <a:t>究極の脇役</a:t>
            </a:r>
          </a:p>
        </p:txBody>
      </p:sp>
      <p:sp>
        <p:nvSpPr>
          <p:cNvPr id="47" name="Rectangle 46"/>
          <p:cNvSpPr/>
          <p:nvPr/>
        </p:nvSpPr>
        <p:spPr>
          <a:xfrm>
            <a:off x="9418320" y="3765814"/>
            <a:ext cx="502920" cy="211825"/>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058400" y="3553989"/>
            <a:ext cx="502920" cy="423650"/>
          </a:xfrm>
          <a:prstGeom prst="rect">
            <a:avLst/>
          </a:prstGeom>
          <a:solidFill>
            <a:srgbClr val="A8C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18320" y="3995928"/>
            <a:ext cx="502920" cy="274320"/>
          </a:xfrm>
          <a:prstGeom prst="rect">
            <a:avLst/>
          </a:prstGeom>
          <a:noFill/>
        </p:spPr>
        <p:txBody>
          <a:bodyPr wrap="square">
            <a:spAutoFit/>
          </a:bodyPr>
          <a:lstStyle/>
          <a:p>
            <a:pPr algn="ctr"/>
            <a:r>
              <a:rPr sz="1400" b="1">
                <a:solidFill>
                  <a:srgbClr val="1A1410"/>
                </a:solidFill>
                <a:latin typeface="Helvetica Neue"/>
              </a:rPr>
              <a:t>46</a:t>
            </a:r>
          </a:p>
        </p:txBody>
      </p:sp>
      <p:sp>
        <p:nvSpPr>
          <p:cNvPr id="50" name="TextBox 49"/>
          <p:cNvSpPr txBox="1"/>
          <p:nvPr/>
        </p:nvSpPr>
        <p:spPr>
          <a:xfrm>
            <a:off x="9418320" y="4233672"/>
            <a:ext cx="502920" cy="228600"/>
          </a:xfrm>
          <a:prstGeom prst="rect">
            <a:avLst/>
          </a:prstGeom>
          <a:noFill/>
        </p:spPr>
        <p:txBody>
          <a:bodyPr wrap="square">
            <a:spAutoFit/>
          </a:bodyPr>
          <a:lstStyle/>
          <a:p>
            <a:pPr algn="ctr"/>
            <a:r>
              <a:rPr sz="900" b="0">
                <a:solidFill>
                  <a:srgbClr val="6B6057"/>
                </a:solidFill>
                <a:latin typeface="Helvetica Neue"/>
              </a:rPr>
              <a:t>1位票</a:t>
            </a:r>
          </a:p>
        </p:txBody>
      </p:sp>
      <p:sp>
        <p:nvSpPr>
          <p:cNvPr id="51" name="TextBox 50"/>
          <p:cNvSpPr txBox="1"/>
          <p:nvPr/>
        </p:nvSpPr>
        <p:spPr>
          <a:xfrm>
            <a:off x="10058400" y="3995928"/>
            <a:ext cx="502920" cy="274320"/>
          </a:xfrm>
          <a:prstGeom prst="rect">
            <a:avLst/>
          </a:prstGeom>
          <a:noFill/>
        </p:spPr>
        <p:txBody>
          <a:bodyPr wrap="square">
            <a:spAutoFit/>
          </a:bodyPr>
          <a:lstStyle/>
          <a:p>
            <a:pPr algn="ctr"/>
            <a:r>
              <a:rPr sz="1400" b="1">
                <a:solidFill>
                  <a:srgbClr val="1A1410"/>
                </a:solidFill>
                <a:latin typeface="Helvetica Neue"/>
              </a:rPr>
              <a:t>92</a:t>
            </a:r>
          </a:p>
        </p:txBody>
      </p:sp>
      <p:sp>
        <p:nvSpPr>
          <p:cNvPr id="52" name="TextBox 51"/>
          <p:cNvSpPr txBox="1"/>
          <p:nvPr/>
        </p:nvSpPr>
        <p:spPr>
          <a:xfrm>
            <a:off x="10058400" y="4233672"/>
            <a:ext cx="502920" cy="228600"/>
          </a:xfrm>
          <a:prstGeom prst="rect">
            <a:avLst/>
          </a:prstGeom>
          <a:noFill/>
        </p:spPr>
        <p:txBody>
          <a:bodyPr wrap="square">
            <a:spAutoFit/>
          </a:bodyPr>
          <a:lstStyle/>
          <a:p>
            <a:pPr algn="ctr"/>
            <a:r>
              <a:rPr sz="900" b="0">
                <a:solidFill>
                  <a:srgbClr val="6B6057"/>
                </a:solidFill>
                <a:latin typeface="Helvetica Neue"/>
              </a:rPr>
              <a:t>2位票</a:t>
            </a:r>
          </a:p>
        </p:txBody>
      </p:sp>
      <p:sp>
        <p:nvSpPr>
          <p:cNvPr id="53" name="TextBox 52"/>
          <p:cNvSpPr txBox="1"/>
          <p:nvPr/>
        </p:nvSpPr>
        <p:spPr>
          <a:xfrm>
            <a:off x="9235440" y="4572000"/>
            <a:ext cx="2377440" cy="320040"/>
          </a:xfrm>
          <a:prstGeom prst="rect">
            <a:avLst/>
          </a:prstGeom>
          <a:noFill/>
        </p:spPr>
        <p:txBody>
          <a:bodyPr wrap="square">
            <a:spAutoFit/>
          </a:bodyPr>
          <a:lstStyle/>
          <a:p>
            <a:pPr algn="ctr"/>
            <a:r>
              <a:rPr sz="1300" b="1">
                <a:solidFill>
                  <a:srgbClr val="A8C0D0"/>
                </a:solidFill>
                <a:latin typeface="Helvetica Neue"/>
              </a:rPr>
              <a:t>差 −46票</a:t>
            </a:r>
          </a:p>
        </p:txBody>
      </p:sp>
      <p:sp>
        <p:nvSpPr>
          <p:cNvPr id="54" name="TextBox 53"/>
          <p:cNvSpPr txBox="1"/>
          <p:nvPr/>
        </p:nvSpPr>
        <p:spPr>
          <a:xfrm>
            <a:off x="9235440" y="4937760"/>
            <a:ext cx="2377440" cy="777240"/>
          </a:xfrm>
          <a:prstGeom prst="rect">
            <a:avLst/>
          </a:prstGeom>
          <a:noFill/>
        </p:spPr>
        <p:txBody>
          <a:bodyPr wrap="square">
            <a:spAutoFit/>
          </a:bodyPr>
          <a:lstStyle/>
          <a:p>
            <a:pPr algn="l"/>
            <a:r>
              <a:rPr sz="1000" b="0">
                <a:solidFill>
                  <a:srgbClr val="6B6057"/>
                </a:solidFill>
                <a:latin typeface="Hiragino Mincho ProN"/>
              </a:rPr>
              <a:t>料理写真との組み合わせで刺さる。
リピート購入に強い軸。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7315200" cy="365760"/>
          </a:xfrm>
          <a:prstGeom prst="rect">
            <a:avLst/>
          </a:prstGeom>
          <a:noFill/>
        </p:spPr>
        <p:txBody>
          <a:bodyPr wrap="square">
            <a:spAutoFit/>
          </a:bodyPr>
          <a:lstStyle/>
          <a:p>
            <a:pPr algn="l"/>
            <a:r>
              <a:rPr sz="900" b="0">
                <a:solidFill>
                  <a:srgbClr val="C8A84B"/>
                </a:solidFill>
                <a:latin typeface="Helvetica Neue"/>
              </a:rPr>
              <a:t>QUALITATIVE ANALYSIS</a:t>
            </a:r>
          </a:p>
        </p:txBody>
      </p:sp>
      <p:sp>
        <p:nvSpPr>
          <p:cNvPr id="5" name="TextBox 4"/>
          <p:cNvSpPr txBox="1"/>
          <p:nvPr/>
        </p:nvSpPr>
        <p:spPr>
          <a:xfrm>
            <a:off x="640080" y="594360"/>
            <a:ext cx="7315200" cy="640080"/>
          </a:xfrm>
          <a:prstGeom prst="rect">
            <a:avLst/>
          </a:prstGeom>
          <a:noFill/>
        </p:spPr>
        <p:txBody>
          <a:bodyPr wrap="square">
            <a:spAutoFit/>
          </a:bodyPr>
          <a:lstStyle/>
          <a:p>
            <a:pPr algn="l"/>
            <a:r>
              <a:rPr sz="2600" b="0">
                <a:solidFill>
                  <a:srgbClr val="1A1410"/>
                </a:solidFill>
                <a:latin typeface="Hiragino Mincho ProN"/>
              </a:rPr>
              <a:t>核心を突くコメント 5選</a:t>
            </a:r>
          </a:p>
        </p:txBody>
      </p:sp>
      <p:sp>
        <p:nvSpPr>
          <p:cNvPr id="6" name="TextBox 5"/>
          <p:cNvSpPr txBox="1"/>
          <p:nvPr/>
        </p:nvSpPr>
        <p:spPr>
          <a:xfrm>
            <a:off x="640080" y="1097280"/>
            <a:ext cx="10972800" cy="457200"/>
          </a:xfrm>
          <a:prstGeom prst="rect">
            <a:avLst/>
          </a:prstGeom>
          <a:noFill/>
        </p:spPr>
        <p:txBody>
          <a:bodyPr wrap="square">
            <a:spAutoFit/>
          </a:bodyPr>
          <a:lstStyle/>
          <a:p>
            <a:pPr algn="l"/>
            <a:r>
              <a:rPr sz="1200" b="0">
                <a:solidFill>
                  <a:srgbClr val="6B6057"/>
                </a:solidFill>
                <a:latin typeface="Hiragino Mincho ProN"/>
              </a:rPr>
              <a:t>そのままキャッチコピーやコンセプトに転用できる、熱量の高い生の声。</a:t>
            </a:r>
          </a:p>
        </p:txBody>
      </p:sp>
      <p:sp>
        <p:nvSpPr>
          <p:cNvPr id="7" name="Rectangle 6"/>
          <p:cNvSpPr/>
          <p:nvPr/>
        </p:nvSpPr>
        <p:spPr>
          <a:xfrm>
            <a:off x="502920" y="1691640"/>
            <a:ext cx="3657600" cy="2103120"/>
          </a:xfrm>
          <a:prstGeom prst="rect">
            <a:avLst/>
          </a:prstGeom>
          <a:solidFill>
            <a:srgbClr val="FFFFFF"/>
          </a:solidFill>
          <a:ln w="12700">
            <a:solidFill>
              <a:srgbClr val="C8A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91640"/>
            <a:ext cx="54864" cy="21031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737360"/>
            <a:ext cx="640080" cy="502920"/>
          </a:xfrm>
          <a:prstGeom prst="rect">
            <a:avLst/>
          </a:prstGeom>
          <a:noFill/>
        </p:spPr>
        <p:txBody>
          <a:bodyPr wrap="square">
            <a:spAutoFit/>
          </a:bodyPr>
          <a:lstStyle/>
          <a:p>
            <a:pPr algn="l"/>
            <a:r>
              <a:rPr sz="2800" b="1">
                <a:solidFill>
                  <a:srgbClr val="EDE7DB"/>
                </a:solidFill>
                <a:latin typeface="Helvetica Neue"/>
              </a:rPr>
              <a:t>01</a:t>
            </a:r>
          </a:p>
        </p:txBody>
      </p:sp>
      <p:sp>
        <p:nvSpPr>
          <p:cNvPr id="10" name="TextBox 9"/>
          <p:cNvSpPr txBox="1"/>
          <p:nvPr/>
        </p:nvSpPr>
        <p:spPr>
          <a:xfrm>
            <a:off x="667512" y="1801368"/>
            <a:ext cx="2743200" cy="274320"/>
          </a:xfrm>
          <a:prstGeom prst="rect">
            <a:avLst/>
          </a:prstGeom>
          <a:noFill/>
        </p:spPr>
        <p:txBody>
          <a:bodyPr wrap="square">
            <a:spAutoFit/>
          </a:bodyPr>
          <a:lstStyle/>
          <a:p>
            <a:pPr algn="l"/>
            <a:r>
              <a:rPr sz="900" b="0">
                <a:solidFill>
                  <a:srgbClr val="C8A84B"/>
                </a:solidFill>
                <a:latin typeface="Helvetica Neue"/>
              </a:rPr>
              <a:t>幻の米 ／ 希少性</a:t>
            </a:r>
          </a:p>
        </p:txBody>
      </p:sp>
      <p:sp>
        <p:nvSpPr>
          <p:cNvPr id="11" name="TextBox 10"/>
          <p:cNvSpPr txBox="1"/>
          <p:nvPr/>
        </p:nvSpPr>
        <p:spPr>
          <a:xfrm>
            <a:off x="667512" y="2075688"/>
            <a:ext cx="3383280" cy="1417320"/>
          </a:xfrm>
          <a:prstGeom prst="rect">
            <a:avLst/>
          </a:prstGeom>
          <a:noFill/>
        </p:spPr>
        <p:txBody>
          <a:bodyPr wrap="square">
            <a:spAutoFit/>
          </a:bodyPr>
          <a:lstStyle/>
          <a:p>
            <a:pPr algn="l"/>
            <a:r>
              <a:rPr sz="1050" b="0">
                <a:solidFill>
                  <a:srgbClr val="1A1410"/>
                </a:solidFill>
                <a:latin typeface="Hiragino Mincho ProN"/>
              </a:rPr>
              <a:t>「日本で唯一というパワーワードに惹かれたから。唯一や限定など、希少価値が高いことを表す言葉を使用されていると飲んでみたいと感じた。」</a:t>
            </a:r>
          </a:p>
        </p:txBody>
      </p:sp>
      <p:sp>
        <p:nvSpPr>
          <p:cNvPr id="12" name="TextBox 11"/>
          <p:cNvSpPr txBox="1"/>
          <p:nvPr/>
        </p:nvSpPr>
        <p:spPr>
          <a:xfrm>
            <a:off x="667512" y="3520440"/>
            <a:ext cx="3383280" cy="256032"/>
          </a:xfrm>
          <a:prstGeom prst="rect">
            <a:avLst/>
          </a:prstGeom>
          <a:noFill/>
        </p:spPr>
        <p:txBody>
          <a:bodyPr wrap="square">
            <a:spAutoFit/>
          </a:bodyPr>
          <a:lstStyle/>
          <a:p>
            <a:pPr algn="l"/>
            <a:r>
              <a:rPr sz="900" b="0">
                <a:solidFill>
                  <a:srgbClr val="6B6057"/>
                </a:solidFill>
                <a:latin typeface="Helvetica Neue"/>
              </a:rPr>
              <a:t>女性・20〜30代</a:t>
            </a:r>
          </a:p>
        </p:txBody>
      </p:sp>
      <p:sp>
        <p:nvSpPr>
          <p:cNvPr id="13" name="Rectangle 12"/>
          <p:cNvSpPr/>
          <p:nvPr/>
        </p:nvSpPr>
        <p:spPr>
          <a:xfrm>
            <a:off x="4389120" y="1691640"/>
            <a:ext cx="3657600" cy="2103120"/>
          </a:xfrm>
          <a:prstGeom prst="rect">
            <a:avLst/>
          </a:prstGeom>
          <a:solidFill>
            <a:srgbClr val="FFFFFF"/>
          </a:solidFill>
          <a:ln w="1270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691640"/>
            <a:ext cx="54864" cy="21031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737360"/>
            <a:ext cx="640080" cy="502920"/>
          </a:xfrm>
          <a:prstGeom prst="rect">
            <a:avLst/>
          </a:prstGeom>
          <a:noFill/>
        </p:spPr>
        <p:txBody>
          <a:bodyPr wrap="square">
            <a:spAutoFit/>
          </a:bodyPr>
          <a:lstStyle/>
          <a:p>
            <a:pPr algn="l"/>
            <a:r>
              <a:rPr sz="2800" b="1">
                <a:solidFill>
                  <a:srgbClr val="EDE7DB"/>
                </a:solidFill>
                <a:latin typeface="Helvetica Neue"/>
              </a:rPr>
              <a:t>02</a:t>
            </a:r>
          </a:p>
        </p:txBody>
      </p:sp>
      <p:sp>
        <p:nvSpPr>
          <p:cNvPr id="16" name="TextBox 15"/>
          <p:cNvSpPr txBox="1"/>
          <p:nvPr/>
        </p:nvSpPr>
        <p:spPr>
          <a:xfrm>
            <a:off x="4553712" y="1801368"/>
            <a:ext cx="2743200" cy="274320"/>
          </a:xfrm>
          <a:prstGeom prst="rect">
            <a:avLst/>
          </a:prstGeom>
          <a:noFill/>
        </p:spPr>
        <p:txBody>
          <a:bodyPr wrap="square">
            <a:spAutoFit/>
          </a:bodyPr>
          <a:lstStyle/>
          <a:p>
            <a:pPr algn="l"/>
            <a:r>
              <a:rPr sz="900" b="0">
                <a:solidFill>
                  <a:srgbClr val="C8A84B"/>
                </a:solidFill>
                <a:latin typeface="Helvetica Neue"/>
              </a:rPr>
              <a:t>復活の物語 ／ 感動・物語性</a:t>
            </a:r>
          </a:p>
        </p:txBody>
      </p:sp>
      <p:sp>
        <p:nvSpPr>
          <p:cNvPr id="17" name="TextBox 16"/>
          <p:cNvSpPr txBox="1"/>
          <p:nvPr/>
        </p:nvSpPr>
        <p:spPr>
          <a:xfrm>
            <a:off x="4553712" y="2075688"/>
            <a:ext cx="3383280" cy="1417320"/>
          </a:xfrm>
          <a:prstGeom prst="rect">
            <a:avLst/>
          </a:prstGeom>
          <a:noFill/>
        </p:spPr>
        <p:txBody>
          <a:bodyPr wrap="square">
            <a:spAutoFit/>
          </a:bodyPr>
          <a:lstStyle/>
          <a:p>
            <a:pPr algn="l"/>
            <a:r>
              <a:rPr sz="1050" b="0">
                <a:solidFill>
                  <a:srgbClr val="1A1410"/>
                </a:solidFill>
                <a:latin typeface="Hiragino Mincho ProN"/>
              </a:rPr>
              <a:t>「20年の沈黙を破って家族で再起した、という背景に惹かれます。味だけじゃなくて『続けること』『守ること』の重みが入っていそうで、飲む時間が特別になりそう。」</a:t>
            </a:r>
          </a:p>
        </p:txBody>
      </p:sp>
      <p:sp>
        <p:nvSpPr>
          <p:cNvPr id="18" name="TextBox 17"/>
          <p:cNvSpPr txBox="1"/>
          <p:nvPr/>
        </p:nvSpPr>
        <p:spPr>
          <a:xfrm>
            <a:off x="4553712" y="3520440"/>
            <a:ext cx="3383280" cy="256032"/>
          </a:xfrm>
          <a:prstGeom prst="rect">
            <a:avLst/>
          </a:prstGeom>
          <a:noFill/>
        </p:spPr>
        <p:txBody>
          <a:bodyPr wrap="square">
            <a:spAutoFit/>
          </a:bodyPr>
          <a:lstStyle/>
          <a:p>
            <a:pPr algn="l"/>
            <a:r>
              <a:rPr sz="900" b="0">
                <a:solidFill>
                  <a:srgbClr val="6B6057"/>
                </a:solidFill>
                <a:latin typeface="Helvetica Neue"/>
              </a:rPr>
              <a:t>女性・30〜40代</a:t>
            </a:r>
          </a:p>
        </p:txBody>
      </p:sp>
      <p:sp>
        <p:nvSpPr>
          <p:cNvPr id="19" name="Rectangle 18"/>
          <p:cNvSpPr/>
          <p:nvPr/>
        </p:nvSpPr>
        <p:spPr>
          <a:xfrm>
            <a:off x="8275320" y="1691640"/>
            <a:ext cx="3657600" cy="2103120"/>
          </a:xfrm>
          <a:prstGeom prst="rect">
            <a:avLst/>
          </a:prstGeom>
          <a:solidFill>
            <a:srgbClr val="FFFFFF"/>
          </a:solidFill>
          <a:ln w="1270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75320" y="1691640"/>
            <a:ext cx="54864" cy="21031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0" y="1737360"/>
            <a:ext cx="640080" cy="502920"/>
          </a:xfrm>
          <a:prstGeom prst="rect">
            <a:avLst/>
          </a:prstGeom>
          <a:noFill/>
        </p:spPr>
        <p:txBody>
          <a:bodyPr wrap="square">
            <a:spAutoFit/>
          </a:bodyPr>
          <a:lstStyle/>
          <a:p>
            <a:pPr algn="l"/>
            <a:r>
              <a:rPr sz="2800" b="1">
                <a:solidFill>
                  <a:srgbClr val="EDE7DB"/>
                </a:solidFill>
                <a:latin typeface="Helvetica Neue"/>
              </a:rPr>
              <a:t>03</a:t>
            </a:r>
          </a:p>
        </p:txBody>
      </p:sp>
      <p:sp>
        <p:nvSpPr>
          <p:cNvPr id="22" name="TextBox 21"/>
          <p:cNvSpPr txBox="1"/>
          <p:nvPr/>
        </p:nvSpPr>
        <p:spPr>
          <a:xfrm>
            <a:off x="8439912" y="1801368"/>
            <a:ext cx="2743200" cy="274320"/>
          </a:xfrm>
          <a:prstGeom prst="rect">
            <a:avLst/>
          </a:prstGeom>
          <a:noFill/>
        </p:spPr>
        <p:txBody>
          <a:bodyPr wrap="square">
            <a:spAutoFit/>
          </a:bodyPr>
          <a:lstStyle/>
          <a:p>
            <a:pPr algn="l"/>
            <a:r>
              <a:rPr sz="900" b="0">
                <a:solidFill>
                  <a:srgbClr val="C8A84B"/>
                </a:solidFill>
                <a:latin typeface="Helvetica Neue"/>
              </a:rPr>
              <a:t>世界の評価 ／ 安心・信頼</a:t>
            </a:r>
          </a:p>
        </p:txBody>
      </p:sp>
      <p:sp>
        <p:nvSpPr>
          <p:cNvPr id="23" name="TextBox 22"/>
          <p:cNvSpPr txBox="1"/>
          <p:nvPr/>
        </p:nvSpPr>
        <p:spPr>
          <a:xfrm>
            <a:off x="8439912" y="2075688"/>
            <a:ext cx="3383280" cy="1417320"/>
          </a:xfrm>
          <a:prstGeom prst="rect">
            <a:avLst/>
          </a:prstGeom>
          <a:noFill/>
        </p:spPr>
        <p:txBody>
          <a:bodyPr wrap="square">
            <a:spAutoFit/>
          </a:bodyPr>
          <a:lstStyle/>
          <a:p>
            <a:pPr algn="l"/>
            <a:r>
              <a:rPr sz="1050" b="0">
                <a:solidFill>
                  <a:srgbClr val="1A1410"/>
                </a:solidFill>
                <a:latin typeface="Hiragino Mincho ProN"/>
              </a:rPr>
              <a:t>「自分の舌やチョイスに自信がないので、世界の評価という太鼓判があると、安心します。」</a:t>
            </a:r>
          </a:p>
        </p:txBody>
      </p:sp>
      <p:sp>
        <p:nvSpPr>
          <p:cNvPr id="24" name="TextBox 23"/>
          <p:cNvSpPr txBox="1"/>
          <p:nvPr/>
        </p:nvSpPr>
        <p:spPr>
          <a:xfrm>
            <a:off x="8439912" y="3520440"/>
            <a:ext cx="3383280" cy="256032"/>
          </a:xfrm>
          <a:prstGeom prst="rect">
            <a:avLst/>
          </a:prstGeom>
          <a:noFill/>
        </p:spPr>
        <p:txBody>
          <a:bodyPr wrap="square">
            <a:spAutoFit/>
          </a:bodyPr>
          <a:lstStyle/>
          <a:p>
            <a:pPr algn="l"/>
            <a:r>
              <a:rPr sz="900" b="0">
                <a:solidFill>
                  <a:srgbClr val="6B6057"/>
                </a:solidFill>
                <a:latin typeface="Helvetica Neue"/>
              </a:rPr>
              <a:t>女性・40〜50代</a:t>
            </a:r>
          </a:p>
        </p:txBody>
      </p:sp>
      <p:sp>
        <p:nvSpPr>
          <p:cNvPr id="25" name="Rectangle 24"/>
          <p:cNvSpPr/>
          <p:nvPr/>
        </p:nvSpPr>
        <p:spPr>
          <a:xfrm>
            <a:off x="502920" y="4023360"/>
            <a:ext cx="3657600" cy="2103120"/>
          </a:xfrm>
          <a:prstGeom prst="rect">
            <a:avLst/>
          </a:prstGeom>
          <a:solidFill>
            <a:srgbClr val="FFFFFF"/>
          </a:solidFill>
          <a:ln w="1270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023360"/>
            <a:ext cx="54864" cy="21031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0" y="4069080"/>
            <a:ext cx="640080" cy="502920"/>
          </a:xfrm>
          <a:prstGeom prst="rect">
            <a:avLst/>
          </a:prstGeom>
          <a:noFill/>
        </p:spPr>
        <p:txBody>
          <a:bodyPr wrap="square">
            <a:spAutoFit/>
          </a:bodyPr>
          <a:lstStyle/>
          <a:p>
            <a:pPr algn="l"/>
            <a:r>
              <a:rPr sz="2800" b="1">
                <a:solidFill>
                  <a:srgbClr val="EDE7DB"/>
                </a:solidFill>
                <a:latin typeface="Helvetica Neue"/>
              </a:rPr>
              <a:t>04</a:t>
            </a:r>
          </a:p>
        </p:txBody>
      </p:sp>
      <p:sp>
        <p:nvSpPr>
          <p:cNvPr id="28" name="TextBox 27"/>
          <p:cNvSpPr txBox="1"/>
          <p:nvPr/>
        </p:nvSpPr>
        <p:spPr>
          <a:xfrm>
            <a:off x="667512" y="4133088"/>
            <a:ext cx="2743200" cy="274320"/>
          </a:xfrm>
          <a:prstGeom prst="rect">
            <a:avLst/>
          </a:prstGeom>
          <a:noFill/>
        </p:spPr>
        <p:txBody>
          <a:bodyPr wrap="square">
            <a:spAutoFit/>
          </a:bodyPr>
          <a:lstStyle/>
          <a:p>
            <a:pPr algn="l"/>
            <a:r>
              <a:rPr sz="900" b="0">
                <a:solidFill>
                  <a:srgbClr val="C8A84B"/>
                </a:solidFill>
                <a:latin typeface="Helvetica Neue"/>
              </a:rPr>
              <a:t>太古の記憶 ／ ロマン・水</a:t>
            </a:r>
          </a:p>
        </p:txBody>
      </p:sp>
      <p:sp>
        <p:nvSpPr>
          <p:cNvPr id="29" name="TextBox 28"/>
          <p:cNvSpPr txBox="1"/>
          <p:nvPr/>
        </p:nvSpPr>
        <p:spPr>
          <a:xfrm>
            <a:off x="667512" y="4407408"/>
            <a:ext cx="3383280" cy="1417320"/>
          </a:xfrm>
          <a:prstGeom prst="rect">
            <a:avLst/>
          </a:prstGeom>
          <a:noFill/>
        </p:spPr>
        <p:txBody>
          <a:bodyPr wrap="square">
            <a:spAutoFit/>
          </a:bodyPr>
          <a:lstStyle/>
          <a:p>
            <a:pPr algn="l"/>
            <a:r>
              <a:rPr sz="1050" b="0">
                <a:solidFill>
                  <a:srgbClr val="1A1410"/>
                </a:solidFill>
                <a:latin typeface="Hiragino Mincho ProN"/>
              </a:rPr>
              <a:t>「ただの水ではなく、時間そのものに価値が宿っているように感じられた。」</a:t>
            </a:r>
          </a:p>
        </p:txBody>
      </p:sp>
      <p:sp>
        <p:nvSpPr>
          <p:cNvPr id="30" name="TextBox 29"/>
          <p:cNvSpPr txBox="1"/>
          <p:nvPr/>
        </p:nvSpPr>
        <p:spPr>
          <a:xfrm>
            <a:off x="667512" y="5852160"/>
            <a:ext cx="3383280" cy="256032"/>
          </a:xfrm>
          <a:prstGeom prst="rect">
            <a:avLst/>
          </a:prstGeom>
          <a:noFill/>
        </p:spPr>
        <p:txBody>
          <a:bodyPr wrap="square">
            <a:spAutoFit/>
          </a:bodyPr>
          <a:lstStyle/>
          <a:p>
            <a:pPr algn="l"/>
            <a:r>
              <a:rPr sz="900" b="0">
                <a:solidFill>
                  <a:srgbClr val="6B6057"/>
                </a:solidFill>
                <a:latin typeface="Helvetica Neue"/>
              </a:rPr>
              <a:t>女性・30代</a:t>
            </a:r>
          </a:p>
        </p:txBody>
      </p:sp>
      <p:sp>
        <p:nvSpPr>
          <p:cNvPr id="31" name="Rectangle 30"/>
          <p:cNvSpPr/>
          <p:nvPr/>
        </p:nvSpPr>
        <p:spPr>
          <a:xfrm>
            <a:off x="4389120" y="4023360"/>
            <a:ext cx="3657600" cy="2103120"/>
          </a:xfrm>
          <a:prstGeom prst="rect">
            <a:avLst/>
          </a:prstGeom>
          <a:solidFill>
            <a:srgbClr val="FFFFFF"/>
          </a:solidFill>
          <a:ln w="1270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0" y="4023360"/>
            <a:ext cx="54864" cy="21031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9480" y="4069080"/>
            <a:ext cx="640080" cy="502920"/>
          </a:xfrm>
          <a:prstGeom prst="rect">
            <a:avLst/>
          </a:prstGeom>
          <a:noFill/>
        </p:spPr>
        <p:txBody>
          <a:bodyPr wrap="square">
            <a:spAutoFit/>
          </a:bodyPr>
          <a:lstStyle/>
          <a:p>
            <a:pPr algn="l"/>
            <a:r>
              <a:rPr sz="2800" b="1">
                <a:solidFill>
                  <a:srgbClr val="EDE7DB"/>
                </a:solidFill>
                <a:latin typeface="Helvetica Neue"/>
              </a:rPr>
              <a:t>05</a:t>
            </a:r>
          </a:p>
        </p:txBody>
      </p:sp>
      <p:sp>
        <p:nvSpPr>
          <p:cNvPr id="34" name="TextBox 33"/>
          <p:cNvSpPr txBox="1"/>
          <p:nvPr/>
        </p:nvSpPr>
        <p:spPr>
          <a:xfrm>
            <a:off x="4553712" y="4133088"/>
            <a:ext cx="2743200" cy="274320"/>
          </a:xfrm>
          <a:prstGeom prst="rect">
            <a:avLst/>
          </a:prstGeom>
          <a:noFill/>
        </p:spPr>
        <p:txBody>
          <a:bodyPr wrap="square">
            <a:spAutoFit/>
          </a:bodyPr>
          <a:lstStyle/>
          <a:p>
            <a:pPr algn="l"/>
            <a:r>
              <a:rPr sz="900" b="0">
                <a:solidFill>
                  <a:srgbClr val="C8A84B"/>
                </a:solidFill>
                <a:latin typeface="Helvetica Neue"/>
              </a:rPr>
              <a:t>究極の脇役 ／ 逆張り</a:t>
            </a:r>
          </a:p>
        </p:txBody>
      </p:sp>
      <p:sp>
        <p:nvSpPr>
          <p:cNvPr id="35" name="TextBox 34"/>
          <p:cNvSpPr txBox="1"/>
          <p:nvPr/>
        </p:nvSpPr>
        <p:spPr>
          <a:xfrm>
            <a:off x="4553712" y="4407408"/>
            <a:ext cx="3383280" cy="1417320"/>
          </a:xfrm>
          <a:prstGeom prst="rect">
            <a:avLst/>
          </a:prstGeom>
          <a:noFill/>
        </p:spPr>
        <p:txBody>
          <a:bodyPr wrap="square">
            <a:spAutoFit/>
          </a:bodyPr>
          <a:lstStyle/>
          <a:p>
            <a:pPr algn="l"/>
            <a:r>
              <a:rPr sz="1050" b="0">
                <a:solidFill>
                  <a:srgbClr val="1A1410"/>
                </a:solidFill>
                <a:latin typeface="Hiragino Mincho ProN"/>
              </a:rPr>
              <a:t>「メインとして推す日本酒は多い印象があるけれど、あえて脇役としてアピールするところに興味を惹かれた。」</a:t>
            </a:r>
          </a:p>
        </p:txBody>
      </p:sp>
      <p:sp>
        <p:nvSpPr>
          <p:cNvPr id="36" name="TextBox 35"/>
          <p:cNvSpPr txBox="1"/>
          <p:nvPr/>
        </p:nvSpPr>
        <p:spPr>
          <a:xfrm>
            <a:off x="4553712" y="5852160"/>
            <a:ext cx="3383280" cy="256032"/>
          </a:xfrm>
          <a:prstGeom prst="rect">
            <a:avLst/>
          </a:prstGeom>
          <a:noFill/>
        </p:spPr>
        <p:txBody>
          <a:bodyPr wrap="square">
            <a:spAutoFit/>
          </a:bodyPr>
          <a:lstStyle/>
          <a:p>
            <a:pPr algn="l"/>
            <a:r>
              <a:rPr sz="900" b="0">
                <a:solidFill>
                  <a:srgbClr val="6B6057"/>
                </a:solidFill>
                <a:latin typeface="Helvetica Neue"/>
              </a:rPr>
              <a:t>女性・40代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5486400" cy="365760"/>
          </a:xfrm>
          <a:prstGeom prst="rect">
            <a:avLst/>
          </a:prstGeom>
          <a:noFill/>
        </p:spPr>
        <p:txBody>
          <a:bodyPr wrap="square">
            <a:spAutoFit/>
          </a:bodyPr>
          <a:lstStyle/>
          <a:p>
            <a:pPr algn="l"/>
            <a:r>
              <a:rPr sz="900" b="0">
                <a:solidFill>
                  <a:srgbClr val="C8A84B"/>
                </a:solidFill>
                <a:latin typeface="Helvetica Neue"/>
              </a:rPr>
              <a:t>KEYWORD EXTRACTION</a:t>
            </a:r>
          </a:p>
        </p:txBody>
      </p:sp>
      <p:sp>
        <p:nvSpPr>
          <p:cNvPr id="5" name="TextBox 4"/>
          <p:cNvSpPr txBox="1"/>
          <p:nvPr/>
        </p:nvSpPr>
        <p:spPr>
          <a:xfrm>
            <a:off x="640080" y="594360"/>
            <a:ext cx="5486400" cy="548640"/>
          </a:xfrm>
          <a:prstGeom prst="rect">
            <a:avLst/>
          </a:prstGeom>
          <a:noFill/>
        </p:spPr>
        <p:txBody>
          <a:bodyPr wrap="square">
            <a:spAutoFit/>
          </a:bodyPr>
          <a:lstStyle/>
          <a:p>
            <a:pPr algn="l"/>
            <a:r>
              <a:rPr sz="2200" b="0">
                <a:solidFill>
                  <a:srgbClr val="1A1410"/>
                </a:solidFill>
                <a:latin typeface="Hiragino Mincho ProN"/>
              </a:rPr>
              <a:t>頻出ポジティブキーワード</a:t>
            </a:r>
          </a:p>
        </p:txBody>
      </p:sp>
      <p:sp>
        <p:nvSpPr>
          <p:cNvPr id="6" name="Rectangle 5"/>
          <p:cNvSpPr/>
          <p:nvPr/>
        </p:nvSpPr>
        <p:spPr>
          <a:xfrm>
            <a:off x="502920" y="1280160"/>
            <a:ext cx="5303520" cy="804672"/>
          </a:xfrm>
          <a:prstGeom prst="rect">
            <a:avLst/>
          </a:prstGeom>
          <a:solidFill>
            <a:srgbClr val="FFFFFF"/>
          </a:solidFill>
          <a:ln w="15240">
            <a:solidFill>
              <a:srgbClr val="C8A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35024"/>
            <a:ext cx="3200400" cy="457200"/>
          </a:xfrm>
          <a:prstGeom prst="rect">
            <a:avLst/>
          </a:prstGeom>
          <a:noFill/>
        </p:spPr>
        <p:txBody>
          <a:bodyPr wrap="square">
            <a:spAutoFit/>
          </a:bodyPr>
          <a:lstStyle/>
          <a:p>
            <a:pPr algn="l"/>
            <a:r>
              <a:rPr sz="2200" b="1">
                <a:solidFill>
                  <a:srgbClr val="1A1410"/>
                </a:solidFill>
                <a:latin typeface="Hiragino Mincho ProN"/>
              </a:rPr>
              <a:t>唯一・限定</a:t>
            </a:r>
          </a:p>
        </p:txBody>
      </p:sp>
      <p:sp>
        <p:nvSpPr>
          <p:cNvPr id="8" name="TextBox 7"/>
          <p:cNvSpPr txBox="1"/>
          <p:nvPr/>
        </p:nvSpPr>
        <p:spPr>
          <a:xfrm>
            <a:off x="685800" y="1755648"/>
            <a:ext cx="4846320" cy="274320"/>
          </a:xfrm>
          <a:prstGeom prst="rect">
            <a:avLst/>
          </a:prstGeom>
          <a:noFill/>
        </p:spPr>
        <p:txBody>
          <a:bodyPr wrap="square">
            <a:spAutoFit/>
          </a:bodyPr>
          <a:lstStyle/>
          <a:p>
            <a:pPr algn="l"/>
            <a:r>
              <a:rPr sz="1000" b="0">
                <a:solidFill>
                  <a:srgbClr val="6B6057"/>
                </a:solidFill>
                <a:latin typeface="Helvetica Neue"/>
              </a:rPr>
              <a:t>希少性 / レア感への反応が最多</a:t>
            </a:r>
          </a:p>
        </p:txBody>
      </p:sp>
      <p:sp>
        <p:nvSpPr>
          <p:cNvPr id="9" name="Rectangle 8"/>
          <p:cNvSpPr/>
          <p:nvPr/>
        </p:nvSpPr>
        <p:spPr>
          <a:xfrm>
            <a:off x="502920" y="2194560"/>
            <a:ext cx="5303520" cy="804672"/>
          </a:xfrm>
          <a:prstGeom prst="rect">
            <a:avLst/>
          </a:prstGeom>
          <a:solidFill>
            <a:srgbClr val="FFFFFF"/>
          </a:solidFill>
          <a:ln w="1524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49424"/>
            <a:ext cx="3200400" cy="457200"/>
          </a:xfrm>
          <a:prstGeom prst="rect">
            <a:avLst/>
          </a:prstGeom>
          <a:noFill/>
        </p:spPr>
        <p:txBody>
          <a:bodyPr wrap="square">
            <a:spAutoFit/>
          </a:bodyPr>
          <a:lstStyle/>
          <a:p>
            <a:pPr algn="l"/>
            <a:r>
              <a:rPr sz="1800" b="0">
                <a:solidFill>
                  <a:srgbClr val="1A1410"/>
                </a:solidFill>
                <a:latin typeface="Hiragino Mincho ProN"/>
              </a:rPr>
              <a:t>物語・ストーリー</a:t>
            </a:r>
          </a:p>
        </p:txBody>
      </p:sp>
      <p:sp>
        <p:nvSpPr>
          <p:cNvPr id="11" name="TextBox 10"/>
          <p:cNvSpPr txBox="1"/>
          <p:nvPr/>
        </p:nvSpPr>
        <p:spPr>
          <a:xfrm>
            <a:off x="685800" y="2670048"/>
            <a:ext cx="4846320" cy="274320"/>
          </a:xfrm>
          <a:prstGeom prst="rect">
            <a:avLst/>
          </a:prstGeom>
          <a:noFill/>
        </p:spPr>
        <p:txBody>
          <a:bodyPr wrap="square">
            <a:spAutoFit/>
          </a:bodyPr>
          <a:lstStyle/>
          <a:p>
            <a:pPr algn="l"/>
            <a:r>
              <a:rPr sz="1000" b="0">
                <a:solidFill>
                  <a:srgbClr val="6B6057"/>
                </a:solidFill>
                <a:latin typeface="Helvetica Neue"/>
              </a:rPr>
              <a:t>背景・歴史を知りたい欲求</a:t>
            </a:r>
          </a:p>
        </p:txBody>
      </p:sp>
      <p:sp>
        <p:nvSpPr>
          <p:cNvPr id="12" name="Rectangle 11"/>
          <p:cNvSpPr/>
          <p:nvPr/>
        </p:nvSpPr>
        <p:spPr>
          <a:xfrm>
            <a:off x="502920" y="3108960"/>
            <a:ext cx="5303520" cy="804672"/>
          </a:xfrm>
          <a:prstGeom prst="rect">
            <a:avLst/>
          </a:prstGeom>
          <a:solidFill>
            <a:srgbClr val="FFFFFF"/>
          </a:solidFill>
          <a:ln w="1524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163824"/>
            <a:ext cx="3200400" cy="457200"/>
          </a:xfrm>
          <a:prstGeom prst="rect">
            <a:avLst/>
          </a:prstGeom>
          <a:noFill/>
        </p:spPr>
        <p:txBody>
          <a:bodyPr wrap="square">
            <a:spAutoFit/>
          </a:bodyPr>
          <a:lstStyle/>
          <a:p>
            <a:pPr algn="l"/>
            <a:r>
              <a:rPr sz="1600" b="0">
                <a:solidFill>
                  <a:srgbClr val="1A1410"/>
                </a:solidFill>
                <a:latin typeface="Hiragino Mincho ProN"/>
              </a:rPr>
              <a:t>水・水質</a:t>
            </a:r>
          </a:p>
        </p:txBody>
      </p:sp>
      <p:sp>
        <p:nvSpPr>
          <p:cNvPr id="14" name="TextBox 13"/>
          <p:cNvSpPr txBox="1"/>
          <p:nvPr/>
        </p:nvSpPr>
        <p:spPr>
          <a:xfrm>
            <a:off x="685800" y="3584448"/>
            <a:ext cx="4846320" cy="274320"/>
          </a:xfrm>
          <a:prstGeom prst="rect">
            <a:avLst/>
          </a:prstGeom>
          <a:noFill/>
        </p:spPr>
        <p:txBody>
          <a:bodyPr wrap="square">
            <a:spAutoFit/>
          </a:bodyPr>
          <a:lstStyle/>
          <a:p>
            <a:pPr algn="l"/>
            <a:r>
              <a:rPr sz="1000" b="0">
                <a:solidFill>
                  <a:srgbClr val="6B6057"/>
                </a:solidFill>
                <a:latin typeface="Helvetica Neue"/>
              </a:rPr>
              <a:t>日本酒の品質軸として認識</a:t>
            </a:r>
          </a:p>
        </p:txBody>
      </p:sp>
      <p:sp>
        <p:nvSpPr>
          <p:cNvPr id="15" name="Rectangle 14"/>
          <p:cNvSpPr/>
          <p:nvPr/>
        </p:nvSpPr>
        <p:spPr>
          <a:xfrm>
            <a:off x="502920" y="4023360"/>
            <a:ext cx="5303520" cy="804672"/>
          </a:xfrm>
          <a:prstGeom prst="rect">
            <a:avLst/>
          </a:prstGeom>
          <a:solidFill>
            <a:srgbClr val="FFFFFF"/>
          </a:solidFill>
          <a:ln w="1524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078224"/>
            <a:ext cx="3200400" cy="457200"/>
          </a:xfrm>
          <a:prstGeom prst="rect">
            <a:avLst/>
          </a:prstGeom>
          <a:noFill/>
        </p:spPr>
        <p:txBody>
          <a:bodyPr wrap="square">
            <a:spAutoFit/>
          </a:bodyPr>
          <a:lstStyle/>
          <a:p>
            <a:pPr algn="l"/>
            <a:r>
              <a:rPr sz="1500" b="0">
                <a:solidFill>
                  <a:srgbClr val="1A1410"/>
                </a:solidFill>
                <a:latin typeface="Hiragino Mincho ProN"/>
              </a:rPr>
              <a:t>料理・食事</a:t>
            </a:r>
          </a:p>
        </p:txBody>
      </p:sp>
      <p:sp>
        <p:nvSpPr>
          <p:cNvPr id="17" name="TextBox 16"/>
          <p:cNvSpPr txBox="1"/>
          <p:nvPr/>
        </p:nvSpPr>
        <p:spPr>
          <a:xfrm>
            <a:off x="685800" y="4498848"/>
            <a:ext cx="4846320" cy="274320"/>
          </a:xfrm>
          <a:prstGeom prst="rect">
            <a:avLst/>
          </a:prstGeom>
          <a:noFill/>
        </p:spPr>
        <p:txBody>
          <a:bodyPr wrap="square">
            <a:spAutoFit/>
          </a:bodyPr>
          <a:lstStyle/>
          <a:p>
            <a:pPr algn="l"/>
            <a:r>
              <a:rPr sz="1000" b="0">
                <a:solidFill>
                  <a:srgbClr val="6B6057"/>
                </a:solidFill>
                <a:latin typeface="Helvetica Neue"/>
              </a:rPr>
              <a:t>飲み方・シーンの具体性</a:t>
            </a:r>
          </a:p>
        </p:txBody>
      </p:sp>
      <p:sp>
        <p:nvSpPr>
          <p:cNvPr id="18" name="Rectangle 17"/>
          <p:cNvSpPr/>
          <p:nvPr/>
        </p:nvSpPr>
        <p:spPr>
          <a:xfrm>
            <a:off x="502920" y="4937760"/>
            <a:ext cx="5303520" cy="804672"/>
          </a:xfrm>
          <a:prstGeom prst="rect">
            <a:avLst/>
          </a:prstGeom>
          <a:solidFill>
            <a:srgbClr val="FFFFFF"/>
          </a:solidFill>
          <a:ln w="15240">
            <a:solidFill>
              <a:srgbClr val="CCC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992624"/>
            <a:ext cx="3200400" cy="457200"/>
          </a:xfrm>
          <a:prstGeom prst="rect">
            <a:avLst/>
          </a:prstGeom>
          <a:noFill/>
        </p:spPr>
        <p:txBody>
          <a:bodyPr wrap="square">
            <a:spAutoFit/>
          </a:bodyPr>
          <a:lstStyle/>
          <a:p>
            <a:pPr algn="l"/>
            <a:r>
              <a:rPr sz="1300" b="0">
                <a:solidFill>
                  <a:srgbClr val="1A1410"/>
                </a:solidFill>
                <a:latin typeface="Hiragino Mincho ProN"/>
              </a:rPr>
              <a:t>世界・フランス</a:t>
            </a:r>
          </a:p>
        </p:txBody>
      </p:sp>
      <p:sp>
        <p:nvSpPr>
          <p:cNvPr id="20" name="TextBox 19"/>
          <p:cNvSpPr txBox="1"/>
          <p:nvPr/>
        </p:nvSpPr>
        <p:spPr>
          <a:xfrm>
            <a:off x="685800" y="5413248"/>
            <a:ext cx="4846320" cy="274320"/>
          </a:xfrm>
          <a:prstGeom prst="rect">
            <a:avLst/>
          </a:prstGeom>
          <a:noFill/>
        </p:spPr>
        <p:txBody>
          <a:bodyPr wrap="square">
            <a:spAutoFit/>
          </a:bodyPr>
          <a:lstStyle/>
          <a:p>
            <a:pPr algn="l"/>
            <a:r>
              <a:rPr sz="1000" b="0">
                <a:solidFill>
                  <a:srgbClr val="6B6057"/>
                </a:solidFill>
                <a:latin typeface="Helvetica Neue"/>
              </a:rPr>
              <a:t>外部評価による信頼の担保</a:t>
            </a:r>
          </a:p>
        </p:txBody>
      </p:sp>
      <p:sp>
        <p:nvSpPr>
          <p:cNvPr id="21" name="Rectangle 20"/>
          <p:cNvSpPr/>
          <p:nvPr/>
        </p:nvSpPr>
        <p:spPr>
          <a:xfrm>
            <a:off x="6217920" y="274320"/>
            <a:ext cx="27432" cy="6309360"/>
          </a:xfrm>
          <a:prstGeom prst="rect">
            <a:avLst/>
          </a:prstGeom>
          <a:solidFill>
            <a:srgbClr val="CCC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274320"/>
            <a:ext cx="5029200" cy="365760"/>
          </a:xfrm>
          <a:prstGeom prst="rect">
            <a:avLst/>
          </a:prstGeom>
          <a:noFill/>
        </p:spPr>
        <p:txBody>
          <a:bodyPr wrap="square">
            <a:spAutoFit/>
          </a:bodyPr>
          <a:lstStyle/>
          <a:p>
            <a:pPr algn="l"/>
            <a:r>
              <a:rPr sz="900" b="0">
                <a:solidFill>
                  <a:srgbClr val="C8A84B"/>
                </a:solidFill>
                <a:latin typeface="Helvetica Neue"/>
              </a:rPr>
              <a:t>USER INSIGHT</a:t>
            </a:r>
          </a:p>
        </p:txBody>
      </p:sp>
      <p:sp>
        <p:nvSpPr>
          <p:cNvPr id="23" name="TextBox 22"/>
          <p:cNvSpPr txBox="1"/>
          <p:nvPr/>
        </p:nvSpPr>
        <p:spPr>
          <a:xfrm>
            <a:off x="6583680" y="594360"/>
            <a:ext cx="5029200" cy="548640"/>
          </a:xfrm>
          <a:prstGeom prst="rect">
            <a:avLst/>
          </a:prstGeom>
          <a:noFill/>
        </p:spPr>
        <p:txBody>
          <a:bodyPr wrap="square">
            <a:spAutoFit/>
          </a:bodyPr>
          <a:lstStyle/>
          <a:p>
            <a:pPr algn="l"/>
            <a:r>
              <a:rPr sz="2200" b="0">
                <a:solidFill>
                  <a:srgbClr val="1A1410"/>
                </a:solidFill>
                <a:latin typeface="Hiragino Mincho ProN"/>
              </a:rPr>
              <a:t>ユーザーの共通インサイト</a:t>
            </a:r>
          </a:p>
        </p:txBody>
      </p:sp>
      <p:sp>
        <p:nvSpPr>
          <p:cNvPr id="24" name="Rectangle 23"/>
          <p:cNvSpPr/>
          <p:nvPr/>
        </p:nvSpPr>
        <p:spPr>
          <a:xfrm>
            <a:off x="6583680" y="1280160"/>
            <a:ext cx="5212080" cy="4389120"/>
          </a:xfrm>
          <a:prstGeom prst="rect">
            <a:avLst/>
          </a:prstGeom>
          <a:solidFill>
            <a:srgbClr val="1A1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0" y="1280160"/>
            <a:ext cx="5212080" cy="54864"/>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1554480"/>
            <a:ext cx="4754880" cy="1737360"/>
          </a:xfrm>
          <a:prstGeom prst="rect">
            <a:avLst/>
          </a:prstGeom>
          <a:noFill/>
        </p:spPr>
        <p:txBody>
          <a:bodyPr wrap="square">
            <a:spAutoFit/>
          </a:bodyPr>
          <a:lstStyle/>
          <a:p>
            <a:pPr algn="ctr"/>
            <a:r>
              <a:rPr sz="2000" b="0">
                <a:solidFill>
                  <a:srgbClr val="FFFFFF"/>
                </a:solidFill>
                <a:latin typeface="Hiragino Mincho ProN"/>
              </a:rPr>
              <a:t>人は日本酒の「味」より、
その酒を選ぶ「理由」を求めている。</a:t>
            </a:r>
          </a:p>
        </p:txBody>
      </p:sp>
      <p:sp>
        <p:nvSpPr>
          <p:cNvPr id="27" name="Rectangle 26"/>
          <p:cNvSpPr/>
          <p:nvPr/>
        </p:nvSpPr>
        <p:spPr>
          <a:xfrm>
            <a:off x="7772400" y="3200400"/>
            <a:ext cx="3017520" cy="36576"/>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3337560"/>
            <a:ext cx="4754880" cy="2194560"/>
          </a:xfrm>
          <a:prstGeom prst="rect">
            <a:avLst/>
          </a:prstGeom>
          <a:noFill/>
        </p:spPr>
        <p:txBody>
          <a:bodyPr wrap="square">
            <a:spAutoFit/>
          </a:bodyPr>
          <a:lstStyle/>
          <a:p>
            <a:pPr algn="ctr"/>
            <a:r>
              <a:rPr sz="1150" b="0">
                <a:solidFill>
                  <a:srgbClr val="B0A8A0"/>
                </a:solidFill>
                <a:latin typeface="Hiragino Mincho ProN"/>
              </a:rPr>
              <a:t>希少性、物語、産地の個性、海外の評価——
どれも本質は同じだ。
「なぜこれを飲むのか」という
自分を納得させる言葉が欲しい。
小松酒造場が伝えるべきは、味の説明ではなく、
この一本を手に取る"意味"である。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